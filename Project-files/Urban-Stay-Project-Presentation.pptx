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14400"/>
            <a:ext cx="10835640" cy="4892040"/>
          </a:xfrm>
          <a:prstGeom prst="roundRect">
            <a:avLst>
              <a:gd name="adj" fmla="val 1495"/>
            </a:avLst>
          </a:prstGeom>
          <a:solidFill>
            <a:srgbClr val="133B5C">
              <a:alpha val="93000"/>
            </a:srgbClr>
          </a:solidFill>
          <a:ln w="12700">
            <a:solidFill>
              <a:srgbClr val="2A7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F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Platform Project Presentation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51560" y="26791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property discovery, listing, inquiry, and dashboard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|  Node.js + Express  |  MongoDB  |  JWT  |  Cloudinary  |  Razorpay  |  Leaflet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9367" y="3896807"/>
            <a:ext cx="362834" cy="3628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887" y="3896807"/>
            <a:ext cx="362834" cy="3628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2724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6636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8407" y="3896807"/>
            <a:ext cx="362834" cy="3628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0176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04088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2927" y="3896807"/>
            <a:ext cx="362834" cy="3628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7628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91540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7447" y="3896807"/>
            <a:ext cx="362834" cy="3628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5080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51560" y="510235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present the project cleanly, without AI-style decorative icons.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Project Overview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33856"/>
            <a:ext cx="1078992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33856"/>
            <a:ext cx="109728" cy="4800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29844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828" y="1377452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280160"/>
            <a:ext cx="9948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1810512"/>
            <a:ext cx="10479024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2" name="Shape 9"/>
          <p:cNvSpPr/>
          <p:nvPr/>
        </p:nvSpPr>
        <p:spPr>
          <a:xfrm>
            <a:off x="1097280" y="16002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16459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55648" y="16184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97280" y="21031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21488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755648" y="21214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097280" y="26060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265176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55648" y="262432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Activities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9728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315468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755648" y="31272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9728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7280" y="365760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755648" y="36301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97280" y="41148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41605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755648" y="41330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097280" y="46177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46634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755648" y="46360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RBAC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446520" y="16002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16459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104888" y="16184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Workflow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446520" y="21031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21488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104888" y="21214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Intelligence and AI Price Match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446520" y="26060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46520" y="265176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104888" y="262432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and Architecture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44652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315468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104888" y="31272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Status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644652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46520" y="365760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104888" y="36301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Learnings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6446520" y="41148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46520" y="41605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04888" y="41330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Matrix and Conclusion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446520" y="46177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46520" y="46634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104888" y="46360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and Thank You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8961120" y="5440680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961120" y="5477256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- 14 Section Report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Urban Stay was built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0432"/>
            <a:ext cx="64008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09728" cy="5074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Urban Stay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608990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is a full-stack real estate platform built to make property discovery and listing management simpler, faster, and more transparent. The project combines user-facing search tools with seller and admin workflows so every role can interact with the same property ecosystem in a structured way.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scattered listings and manual follow-up, the platform centralizes property posting, filtering, inquiry handling, verification, reviews, alerts, and dashboard-based control. That gives buyers a cleaner search experience and gives sellers and admins a reliable operational view.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7360920" y="1170432"/>
            <a:ext cx="40690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0920" y="1170432"/>
            <a:ext cx="109728" cy="210312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255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4516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37576" y="131673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Solved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562088" y="1847088"/>
            <a:ext cx="3758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Fragmented property discovery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inquiry follow-up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Poor listing quality control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role-aware workflow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360920" y="3456432"/>
            <a:ext cx="40690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60920" y="3456432"/>
            <a:ext cx="109728" cy="2788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525512" y="3621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4516" y="3700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37576" y="360273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562088" y="4133088"/>
            <a:ext cx="375818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Public search and detail pages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Seller posting and editing flow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 verification and feature control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alerts, reviews, and inquiries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price match and utility tools</a:t>
            </a:r>
            <a:endParaRPr lang="en-US" sz="121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Project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objective, and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70432"/>
            <a:ext cx="10972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828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 digital platform for property browsing, listing, inquiry handling, and platform-level control.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939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9392" y="1170432"/>
            <a:ext cx="109728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398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2988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604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seller, and admin roles with different access levels and dashboards.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84555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45552" y="1170432"/>
            <a:ext cx="10972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1014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9148" y="1414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04672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project that demonstrates a practical end-to-end real estate workflow.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13232" y="32004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3232" y="3200400"/>
            <a:ext cx="109728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77824" y="33649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828" y="344399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89888" y="3346704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4400" y="3877056"/>
            <a:ext cx="4946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secure login, register, and password recovery flows.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Support property listing creation, edits, and image uploads.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Allow search, filter, and detailed property exploration.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Provide inquiry, review, alert, and dashboard workflows.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45352" y="32004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245352" y="3200400"/>
            <a:ext cx="109728" cy="2743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409944" y="33649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8948" y="3443996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22008" y="3346704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6446520" y="3877056"/>
            <a:ext cx="4946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Reduces manual coordination between buyers and sellers.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Improves listing transparency and verification.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Makes the platform easier to operate for admins.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Shows a complete full-stack product architecture.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built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1556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7101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1225296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page structure, component layout, and responsive home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91072" y="111556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9944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27101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225296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9944" y="166420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register, login, forgot password, reset password, and session restoration.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2542032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9748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6736" y="2651760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modules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listing pages, property details, search filters, and seller posting flow.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91072" y="2542032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269748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51760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9944" y="3090672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user, seller, and admin dashboards with route-based access control.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968496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239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16736" y="4078224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4517136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Cloudinary, Razorpay, Leaflet, and the ML price match service.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3968496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41239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078224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polishing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9944" y="4517136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validation, error handling, and deployment readiness across modules.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15400" y="5715000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575157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full-stack delivery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objectives, and workflow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70432"/>
            <a:ext cx="3657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70432"/>
            <a:ext cx="109728" cy="210312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828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31673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47088"/>
            <a:ext cx="33467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search is often fragmented, with inconsistent listing quality, delayed responses, and weak control over verified content. Buyers need a cleaner way to discover properties, while sellers and admins need structured workflows to manage listings and inquiries.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4517136" y="1170432"/>
            <a:ext cx="334670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17136" y="1170432"/>
            <a:ext cx="109728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0732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131673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18304" y="1847088"/>
            <a:ext cx="3035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Easy browsing and filtering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Verified listing management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Inquiry and review support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and role dashboards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8101584" y="1170432"/>
            <a:ext cx="334670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01584" y="1170432"/>
            <a:ext cx="109728" cy="2103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66176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5180" y="1414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78240" y="131673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02752" y="1847088"/>
            <a:ext cx="3035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Web app for users, sellers, and admins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Frontend, backend, and ML integration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 and cloud deployment ready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749808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68680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316736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68680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through JWT-based auth.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69087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90872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138928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Search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690872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city, price, type, and listing mode.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394192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513064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13064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961120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Property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8513064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images, map, amenities, and details.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49808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68680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68680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316736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868680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request for the selected property.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572000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690872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690872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5138928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Reviews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4690872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 admin handles the inquiry and listing updates.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394192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513064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513064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8961120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Result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8513064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track status from dashboard and alerts.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stack for Urban Stay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88720"/>
            <a:ext cx="3584448" cy="48463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88720"/>
            <a:ext cx="109728" cy="4846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18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Vite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Router v7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Tailwind CSS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Framer Motion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Axios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Zod validation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4297680" y="1188720"/>
            <a:ext cx="3584448" cy="48463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188720"/>
            <a:ext cx="109728" cy="4846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27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74336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98848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Node.js and Express 5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MongoDB Atlas and Mongoose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JWT and bcryptjs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Nodemailer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Multer and Cloudinary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Razorpay integration</a:t>
            </a:r>
            <a:endParaRPr lang="en-US" sz="1210" dirty="0"/>
          </a:p>
        </p:txBody>
      </p:sp>
      <p:sp>
        <p:nvSpPr>
          <p:cNvPr id="18" name="Shape 14"/>
          <p:cNvSpPr/>
          <p:nvPr/>
        </p:nvSpPr>
        <p:spPr>
          <a:xfrm>
            <a:off x="7845552" y="1188720"/>
            <a:ext cx="3584448" cy="48463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45552" y="1188720"/>
            <a:ext cx="109728" cy="4846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10144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9148" y="143231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Utilities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046720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Leaflet and React Leaflet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price match service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proxy route for ML service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Area converter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EMI calculator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Cookie consent banner</a:t>
            </a:r>
            <a:endParaRPr lang="en-US" sz="121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 available in the platform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0432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09728" cy="1243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registration, forgot/reset password, and session restoration.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327648" y="1170432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27648" y="1170432"/>
            <a:ext cx="109728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1244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04304" y="13167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28816" y="18470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featured and general listings with images, location, and specifications.</a:t>
            </a:r>
            <a:endParaRPr lang="en-US" sz="1170" dirty="0"/>
          </a:p>
        </p:txBody>
      </p:sp>
      <p:sp>
        <p:nvSpPr>
          <p:cNvPr id="18" name="Shape 14"/>
          <p:cNvSpPr/>
          <p:nvPr/>
        </p:nvSpPr>
        <p:spPr>
          <a:xfrm>
            <a:off x="731520" y="2651760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651760"/>
            <a:ext cx="109728" cy="1243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96112" y="281635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116" y="289535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08176" y="279806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32688" y="332841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filter by price, city, type, and listing category.</a:t>
            </a:r>
            <a:endParaRPr lang="en-US" sz="1170" dirty="0"/>
          </a:p>
        </p:txBody>
      </p:sp>
      <p:sp>
        <p:nvSpPr>
          <p:cNvPr id="24" name="Shape 19"/>
          <p:cNvSpPr/>
          <p:nvPr/>
        </p:nvSpPr>
        <p:spPr>
          <a:xfrm>
            <a:off x="6327648" y="2651760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27648" y="2651760"/>
            <a:ext cx="109728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92240" y="281635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1244" y="289535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04304" y="279806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System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528816" y="332841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 to property owners and track inquiry status.</a:t>
            </a:r>
            <a:endParaRPr lang="en-US" sz="1170" dirty="0"/>
          </a:p>
        </p:txBody>
      </p:sp>
      <p:sp>
        <p:nvSpPr>
          <p:cNvPr id="30" name="Shape 24"/>
          <p:cNvSpPr/>
          <p:nvPr/>
        </p:nvSpPr>
        <p:spPr>
          <a:xfrm>
            <a:off x="731520" y="4133088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1520" y="4133088"/>
            <a:ext cx="109728" cy="124358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96112" y="42976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116" y="4376684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08176" y="427939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Ratings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932688" y="480974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feedback through star ratings and comments.</a:t>
            </a:r>
            <a:endParaRPr lang="en-US" sz="1170" dirty="0"/>
          </a:p>
        </p:txBody>
      </p:sp>
      <p:sp>
        <p:nvSpPr>
          <p:cNvPr id="36" name="Shape 29"/>
          <p:cNvSpPr/>
          <p:nvPr/>
        </p:nvSpPr>
        <p:spPr>
          <a:xfrm>
            <a:off x="6327648" y="4133088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27648" y="4133088"/>
            <a:ext cx="109728" cy="1243584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92240" y="42976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71244" y="4376684"/>
            <a:ext cx="280904" cy="280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04304" y="427939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6528816" y="480974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search conditions for future matching properties.</a:t>
            </a:r>
            <a:endParaRPr lang="en-US" sz="1170" dirty="0"/>
          </a:p>
        </p:txBody>
      </p:sp>
      <p:sp>
        <p:nvSpPr>
          <p:cNvPr id="42" name="Shape 3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User Authentication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 access control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0432"/>
            <a:ext cx="4617720" cy="489204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09728" cy="4892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430682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registers or logs in from the frontend.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validates credentials and creates a JWT token.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Token and user data are stored in local storage for session persistence.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Protected routes redirect users according to their role.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selection is based on user, seller, or admin access.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532120" y="1170432"/>
            <a:ext cx="59253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1170432"/>
            <a:ext cx="109728" cy="4892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967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5716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08776" y="131673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Capabilities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33288" y="1847088"/>
            <a:ext cx="561441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Browse properties, save alerts, send inquiries, and leave reviews.</a:t>
            </a:r>
            <a:endParaRPr lang="en-US" sz="1215" dirty="0"/>
          </a:p>
          <a:p>
            <a:pPr indent="0" marL="0">
              <a:buNone/>
            </a:pP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- Post and edit properties, respond to inquiries, and manage own listings.</a:t>
            </a:r>
            <a:endParaRPr lang="en-US" sz="1215" dirty="0"/>
          </a:p>
          <a:p>
            <a:pPr indent="0" marL="0">
              <a:buNone/>
            </a:pP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Verify listings, feature properties, view stats, and manage platform quality.</a:t>
            </a:r>
            <a:endParaRPr lang="en-US" sz="1215" dirty="0"/>
          </a:p>
        </p:txBody>
      </p:sp>
      <p:sp>
        <p:nvSpPr>
          <p:cNvPr id="18" name="Shape 14"/>
          <p:cNvSpPr/>
          <p:nvPr/>
        </p:nvSpPr>
        <p:spPr>
          <a:xfrm>
            <a:off x="9098280" y="5532120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098280" y="556869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guarded in App.jsx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Workflow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property posting and inquiry 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4416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29844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signs 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 admin opens the post-property flow.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34416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76288" y="129844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17373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price, type, location, amenities, and media are entered.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26771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2316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8448" y="2377440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28163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processed through Cloudinary and stored securely.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26771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42316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377440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 verify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28163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verify and feature the property.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34670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" y="3474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50215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3456432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0392" y="389534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filters listings and opens the property page.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34670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3474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50215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456432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28232" y="389534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request to the seller or admin.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425696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" y="4553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45811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98448" y="4535424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0392" y="49743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appear in dashboards and alerts.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Search Intelligence and AI Price Match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 and backend-proxied ML support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52144"/>
            <a:ext cx="4709160" cy="49377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52144"/>
            <a:ext cx="109728" cy="4937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167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395740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9844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Layer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28800"/>
            <a:ext cx="439826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Search by city, property type, and listing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Filter by price, area, bedrooms, and bathrooms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Featured projects surface important listings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help users revisit matching properties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Property cards and details show images, map, and amenities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87568" y="1152144"/>
            <a:ext cx="54406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87568" y="1152144"/>
            <a:ext cx="109728" cy="19385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13167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1164" y="1395740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64224" y="1298448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Match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88736" y="1828800"/>
            <a:ext cx="5129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price match section helps compare a listing with nearby market signals. The browser does not call the Flask service directly; requests are proxied through the backend using the ML service URL, which avoids browser CORS and mixed-content issues.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5687568" y="3273552"/>
            <a:ext cx="5440680" cy="281635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87568" y="3273552"/>
            <a:ext cx="109728" cy="2816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52160" y="343814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1164" y="351714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3419856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888736" y="3950208"/>
            <a:ext cx="51297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Faster property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Cleaner search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More relevant featured suggestions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Better price understanding before inquiry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Screens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and dashboard views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887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featured projects, tools, and testimonials.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611880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1887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7647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547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8536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Register</a:t>
            </a:r>
            <a:endParaRPr lang="en-US" sz="1330" dirty="0"/>
          </a:p>
        </p:txBody>
      </p:sp>
      <p:sp>
        <p:nvSpPr>
          <p:cNvPr id="17" name="Text 13"/>
          <p:cNvSpPr/>
          <p:nvPr/>
        </p:nvSpPr>
        <p:spPr>
          <a:xfrm>
            <a:off x="3813048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password recovery pages.</a:t>
            </a:r>
            <a:endParaRPr lang="en-US" sz="1040" dirty="0"/>
          </a:p>
        </p:txBody>
      </p:sp>
      <p:sp>
        <p:nvSpPr>
          <p:cNvPr id="18" name="Shape 14"/>
          <p:cNvSpPr/>
          <p:nvPr/>
        </p:nvSpPr>
        <p:spPr>
          <a:xfrm>
            <a:off x="6473952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3952" y="11887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38544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7548" y="143231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50608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330" dirty="0"/>
          </a:p>
        </p:txBody>
      </p:sp>
      <p:sp>
        <p:nvSpPr>
          <p:cNvPr id="23" name="Text 18"/>
          <p:cNvSpPr/>
          <p:nvPr/>
        </p:nvSpPr>
        <p:spPr>
          <a:xfrm>
            <a:off x="6675120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grid with filters and query controls.</a:t>
            </a:r>
            <a:endParaRPr lang="en-US" sz="1040" dirty="0"/>
          </a:p>
        </p:txBody>
      </p:sp>
      <p:sp>
        <p:nvSpPr>
          <p:cNvPr id="24" name="Shape 19"/>
          <p:cNvSpPr/>
          <p:nvPr/>
        </p:nvSpPr>
        <p:spPr>
          <a:xfrm>
            <a:off x="9336024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336024" y="11887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500616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79620" y="143231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12680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330" dirty="0"/>
          </a:p>
        </p:txBody>
      </p:sp>
      <p:sp>
        <p:nvSpPr>
          <p:cNvPr id="29" name="Text 23"/>
          <p:cNvSpPr/>
          <p:nvPr/>
        </p:nvSpPr>
        <p:spPr>
          <a:xfrm>
            <a:off x="9537192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map, amenities, and inquiry controls.</a:t>
            </a:r>
            <a:endParaRPr lang="en-US" sz="1040" dirty="0"/>
          </a:p>
        </p:txBody>
      </p:sp>
      <p:sp>
        <p:nvSpPr>
          <p:cNvPr id="30" name="Shape 24"/>
          <p:cNvSpPr/>
          <p:nvPr/>
        </p:nvSpPr>
        <p:spPr>
          <a:xfrm>
            <a:off x="749808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49808" y="3246120"/>
            <a:ext cx="109728" cy="17556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14400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3404" y="3489716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26464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330" dirty="0"/>
          </a:p>
        </p:txBody>
      </p:sp>
      <p:sp>
        <p:nvSpPr>
          <p:cNvPr id="35" name="Text 28"/>
          <p:cNvSpPr/>
          <p:nvPr/>
        </p:nvSpPr>
        <p:spPr>
          <a:xfrm>
            <a:off x="950976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alerts, inquiries, and profile actions.</a:t>
            </a:r>
            <a:endParaRPr lang="en-US" sz="1040" dirty="0"/>
          </a:p>
        </p:txBody>
      </p:sp>
      <p:sp>
        <p:nvSpPr>
          <p:cNvPr id="36" name="Shape 29"/>
          <p:cNvSpPr/>
          <p:nvPr/>
        </p:nvSpPr>
        <p:spPr>
          <a:xfrm>
            <a:off x="3611880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611880" y="32461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776472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5476" y="3489716"/>
            <a:ext cx="280904" cy="280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288536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</a:t>
            </a:r>
            <a:endParaRPr lang="en-US" sz="1330" dirty="0"/>
          </a:p>
        </p:txBody>
      </p:sp>
      <p:sp>
        <p:nvSpPr>
          <p:cNvPr id="41" name="Text 33"/>
          <p:cNvSpPr/>
          <p:nvPr/>
        </p:nvSpPr>
        <p:spPr>
          <a:xfrm>
            <a:off x="3813048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edit, and manage property listings.</a:t>
            </a:r>
            <a:endParaRPr lang="en-US" sz="1040" dirty="0"/>
          </a:p>
        </p:txBody>
      </p:sp>
      <p:sp>
        <p:nvSpPr>
          <p:cNvPr id="42" name="Shape 34"/>
          <p:cNvSpPr/>
          <p:nvPr/>
        </p:nvSpPr>
        <p:spPr>
          <a:xfrm>
            <a:off x="6473952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73952" y="32461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638544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17548" y="3489716"/>
            <a:ext cx="280904" cy="28090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150608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30" dirty="0"/>
          </a:p>
        </p:txBody>
      </p:sp>
      <p:sp>
        <p:nvSpPr>
          <p:cNvPr id="47" name="Text 38"/>
          <p:cNvSpPr/>
          <p:nvPr/>
        </p:nvSpPr>
        <p:spPr>
          <a:xfrm>
            <a:off x="6675120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listings, feature properties, and view stats.</a:t>
            </a:r>
            <a:endParaRPr lang="en-US" sz="1040" dirty="0"/>
          </a:p>
        </p:txBody>
      </p:sp>
      <p:sp>
        <p:nvSpPr>
          <p:cNvPr id="48" name="Shape 39"/>
          <p:cNvSpPr/>
          <p:nvPr/>
        </p:nvSpPr>
        <p:spPr>
          <a:xfrm>
            <a:off x="9336024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9336024" y="3246120"/>
            <a:ext cx="109728" cy="1755648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9500616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79620" y="3489716"/>
            <a:ext cx="280904" cy="28090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012680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Pages</a:t>
            </a:r>
            <a:endParaRPr lang="en-US" sz="1330" dirty="0"/>
          </a:p>
        </p:txBody>
      </p:sp>
      <p:sp>
        <p:nvSpPr>
          <p:cNvPr id="53" name="Text 43"/>
          <p:cNvSpPr/>
          <p:nvPr/>
        </p:nvSpPr>
        <p:spPr>
          <a:xfrm>
            <a:off x="9537192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calculator, area converter, and home interior pages.</a:t>
            </a:r>
            <a:endParaRPr lang="en-US" sz="1040" dirty="0"/>
          </a:p>
        </p:txBody>
      </p:sp>
      <p:sp>
        <p:nvSpPr>
          <p:cNvPr id="54" name="Shape 4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for scalability and maintainability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3385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33856"/>
            <a:ext cx="109728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29844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276" y="1377452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45336" y="128016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1 - User Interface</a:t>
            </a:r>
            <a:endParaRPr lang="en-US" sz="1430" dirty="0"/>
          </a:p>
        </p:txBody>
      </p:sp>
      <p:sp>
        <p:nvSpPr>
          <p:cNvPr id="11" name="Text 8"/>
          <p:cNvSpPr/>
          <p:nvPr/>
        </p:nvSpPr>
        <p:spPr>
          <a:xfrm>
            <a:off x="1069848" y="181051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and components: home, search, property details, dashboards, and utility pages.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68680" y="223113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231136"/>
            <a:ext cx="10972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33272" y="239572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276" y="2474732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45336" y="237744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2 - State and Services</a:t>
            </a:r>
            <a:endParaRPr lang="en-US" sz="1430" dirty="0"/>
          </a:p>
        </p:txBody>
      </p:sp>
      <p:sp>
        <p:nvSpPr>
          <p:cNvPr id="17" name="Text 13"/>
          <p:cNvSpPr/>
          <p:nvPr/>
        </p:nvSpPr>
        <p:spPr>
          <a:xfrm>
            <a:off x="1069848" y="290779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context, API service wrappers, route protection, form validation, and UI state handling.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868680" y="332841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8680" y="3328416"/>
            <a:ext cx="109728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33272" y="349300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276" y="3572012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45336" y="347472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3 - API and Business Logic</a:t>
            </a:r>
            <a:endParaRPr lang="en-US" sz="1430" dirty="0"/>
          </a:p>
        </p:txBody>
      </p:sp>
      <p:sp>
        <p:nvSpPr>
          <p:cNvPr id="23" name="Text 18"/>
          <p:cNvSpPr/>
          <p:nvPr/>
        </p:nvSpPr>
        <p:spPr>
          <a:xfrm>
            <a:off x="1069848" y="400507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and controllers for auth, properties, inquiries, reviews, alerts, projects, payments, and ML.</a:t>
            </a:r>
            <a:endParaRPr lang="en-US" sz="1120" dirty="0"/>
          </a:p>
        </p:txBody>
      </p:sp>
      <p:sp>
        <p:nvSpPr>
          <p:cNvPr id="24" name="Shape 19"/>
          <p:cNvSpPr/>
          <p:nvPr/>
        </p:nvSpPr>
        <p:spPr>
          <a:xfrm>
            <a:off x="868680" y="442569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4425696"/>
            <a:ext cx="109728" cy="91440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33272" y="459028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276" y="4669292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45336" y="457200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4 - Data and Integrations</a:t>
            </a:r>
            <a:endParaRPr lang="en-US" sz="1430" dirty="0"/>
          </a:p>
        </p:txBody>
      </p:sp>
      <p:sp>
        <p:nvSpPr>
          <p:cNvPr id="29" name="Text 23"/>
          <p:cNvSpPr/>
          <p:nvPr/>
        </p:nvSpPr>
        <p:spPr>
          <a:xfrm>
            <a:off x="1069848" y="510235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collections, Cloudinary uploads, Nodemailer, Razorpay, Leaflet, and the ML service.</a:t>
            </a:r>
            <a:endParaRPr lang="en-US" sz="1120" dirty="0"/>
          </a:p>
        </p:txBody>
      </p:sp>
      <p:sp>
        <p:nvSpPr>
          <p:cNvPr id="30" name="Shape 24"/>
          <p:cNvSpPr/>
          <p:nvPr/>
        </p:nvSpPr>
        <p:spPr>
          <a:xfrm>
            <a:off x="7360920" y="589788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360920" y="5934456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-&gt; Services -&gt; API -&gt; Database / External APIs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System Status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already integrated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43000"/>
            <a:ext cx="4800600" cy="4956048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43000"/>
            <a:ext cx="109728" cy="4956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075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38659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89304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Modules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19656"/>
            <a:ext cx="448970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Authentication and protected routes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Property listing CRUD and image upload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Search, filter, and featured listings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Inquiries and property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and dashboard 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Payments, maps, and AI price 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 verification and feature controls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14300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06440" y="1143000"/>
            <a:ext cx="109728" cy="2057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71032" y="13075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036" y="138659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83096" y="1289304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007608" y="1819656"/>
            <a:ext cx="51297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functionally complete for core workflows and ready for presentation, review, and iterative refinement.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3456432"/>
            <a:ext cx="5440680" cy="2642616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06440" y="3456432"/>
            <a:ext cx="109728" cy="26426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71032" y="3621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0036" y="3700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83096" y="3602736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Completion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07608" y="4133088"/>
            <a:ext cx="512978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 route structure in App.jsx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Controllers and models for each resource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Upload and API integration configured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 pages wired to the backend services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encountered during development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097280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097280"/>
            <a:ext cx="109728" cy="841248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26187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34087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43584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 and role logic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50976" y="1773936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creating a dedicated protected-route wrapper and role checks in App.jsx.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" y="2066544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066544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404" y="2310140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26464" y="22128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 reliability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950976" y="2743200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synchronizing query parameters with the active filter object.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49808" y="3035808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3035808"/>
            <a:ext cx="109728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32004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404" y="3279404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26464" y="3182112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and session consistency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950976" y="3712464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using local storage and a shared auth context across tabs.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749808" y="4005072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08" y="4005072"/>
            <a:ext cx="109728" cy="8412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4400" y="416966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04" y="4248668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26464" y="4151376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handling</a:t>
            </a:r>
            <a:endParaRPr lang="en-US" sz="1320" dirty="0"/>
          </a:p>
        </p:txBody>
      </p:sp>
      <p:sp>
        <p:nvSpPr>
          <p:cNvPr id="29" name="Text 23"/>
          <p:cNvSpPr/>
          <p:nvPr/>
        </p:nvSpPr>
        <p:spPr>
          <a:xfrm>
            <a:off x="950976" y="4681728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using multer and Cloudinary for structured image processing.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749808" y="4974336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49808" y="4974336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14400" y="513892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3404" y="5217932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26464" y="5120640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connectivity</a:t>
            </a:r>
            <a:endParaRPr lang="en-US" sz="1320" dirty="0"/>
          </a:p>
        </p:txBody>
      </p:sp>
      <p:sp>
        <p:nvSpPr>
          <p:cNvPr id="35" name="Text 28"/>
          <p:cNvSpPr/>
          <p:nvPr/>
        </p:nvSpPr>
        <p:spPr>
          <a:xfrm>
            <a:off x="950976" y="5650992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proxying requests through the backend instead of calling localhost directly.</a:t>
            </a:r>
            <a:endParaRPr lang="en-US" sz="1080" dirty="0"/>
          </a:p>
        </p:txBody>
      </p:sp>
      <p:sp>
        <p:nvSpPr>
          <p:cNvPr id="36" name="Shape 2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Skills Acquired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reinforced technically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887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88720"/>
            <a:ext cx="109728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reuse, route composition, responsive sections, and clean page-level state handling in React.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1887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188720"/>
            <a:ext cx="10972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251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151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94576" y="13350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API Design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19088" y="1865376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controllers, middleware, route organization, and validation patterns for a modular service layer.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49808" y="3218688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3218688"/>
            <a:ext cx="10972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33832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404" y="3462284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26464" y="33649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Authentication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50976" y="3895344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modeling, JWT sessions, role-based access control, and secure password flow management.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3218688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0" y="3218688"/>
            <a:ext cx="109728" cy="182880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82512" y="33832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1516" y="3462284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94576" y="33649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Debugging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419088" y="3895344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maps, uploads, payments, emails, and ML services while tracing issues across the stack.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can access in Urban Stay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25296"/>
            <a:ext cx="4474159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98448"/>
            <a:ext cx="4401007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23967" y="1225296"/>
            <a:ext cx="234360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60543" y="1298448"/>
            <a:ext cx="227045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67574" y="1225296"/>
            <a:ext cx="191749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4150" y="1298448"/>
            <a:ext cx="184434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85071" y="1225296"/>
            <a:ext cx="191749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1647" y="1298448"/>
            <a:ext cx="184434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1871907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23967" y="1871907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67574" y="1871907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85071" y="1871907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1926771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properties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3967" y="1926771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67574" y="1926771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85071" y="1926771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2518519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23967" y="2518519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7574" y="2518519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5071" y="2518519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573383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23967" y="2573383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67574" y="2573383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85071" y="2573383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" y="3165130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23967" y="3165130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67574" y="3165130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5071" y="3165130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3219994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 edit property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23967" y="3219994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67574" y="3219994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85071" y="3219994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3811742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23967" y="3811742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67574" y="3811742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85071" y="3811742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3866606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feature property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3967" y="3866606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67574" y="3866606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85071" y="3866606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" y="4458353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23967" y="4458353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67574" y="4458353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85071" y="4458353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4513217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dashboards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23967" y="4513217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67574" y="4513217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485071" y="4513217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" y="5104965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23967" y="5104965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67574" y="5104965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85071" y="5104965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" y="5159829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alerts and reviews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23967" y="5159829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567574" y="5159829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485071" y="5159829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outcomes and future scope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70432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70432"/>
            <a:ext cx="109728" cy="4526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16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47088"/>
            <a:ext cx="48554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Built a full-stack real estate platform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Implemented multi-role workflows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Connected search, inquiry, review, and alert flows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Added AI price match and utility pages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Structured the system for future scaling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181344" y="1170432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81344" y="1170432"/>
            <a:ext cx="109728" cy="4526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45936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940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1316736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82512" y="1847088"/>
            <a:ext cx="494690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Stronger analytics and reporting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More personalized property recommendations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Additional notification channels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Further deployment hardening and monitoring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and Handover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included in the final submission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07008"/>
            <a:ext cx="5212080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207008"/>
            <a:ext cx="109728" cy="45354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716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50604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5331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83664"/>
            <a:ext cx="49011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 React application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Express and MongoDB backend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ML service integration plan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Database models and routes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Documentation and presentation deck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Sample data and deployment notes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254496" y="1207008"/>
            <a:ext cx="5184648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4496" y="1207008"/>
            <a:ext cx="109728" cy="4535424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19088" y="13716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8092" y="1450604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31152" y="13533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Readiness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55664" y="1883664"/>
            <a:ext cx="487375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can be demonstrated across all main flows: login, browse, search, property details, inquiry, seller actions, admin verification, and dashboard tracking.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10744200" cy="4892040"/>
          </a:xfrm>
          <a:prstGeom prst="roundRect">
            <a:avLst>
              <a:gd name="adj" fmla="val 1495"/>
            </a:avLst>
          </a:prstGeom>
          <a:solidFill>
            <a:srgbClr val="12304B">
              <a:alpha val="92000"/>
            </a:srgbClr>
          </a:solidFill>
          <a:ln w="12700">
            <a:solidFill>
              <a:srgbClr val="2A7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- Real Estate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706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discovery, listing management, and role-based workflows in one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4635" y="375635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2035" y="37563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86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406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9435" y="375635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760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4980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835" y="375635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334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95554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4235" y="3756355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908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97280" y="507492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 clean, non-AI-icon presentation style.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Urban Stay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Stay - Real Estate Platform</dc:title>
  <dc:subject>Urban Stay real estate platform project presentation</dc:subject>
  <dc:creator>Urban Stay Team</dc:creator>
  <cp:lastModifiedBy>Urban Stay Team</cp:lastModifiedBy>
  <cp:revision>1</cp:revision>
  <dcterms:created xsi:type="dcterms:W3CDTF">2026-05-11T12:52:33Z</dcterms:created>
  <dcterms:modified xsi:type="dcterms:W3CDTF">2026-05-11T12:52:33Z</dcterms:modified>
</cp:coreProperties>
</file>