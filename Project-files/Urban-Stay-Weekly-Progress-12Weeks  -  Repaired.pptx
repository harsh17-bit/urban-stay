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89" d="100"/>
          <a:sy n="89" d="100"/>
        </p:scale>
        <p:origin x="4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698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1B2A"/>
          </a:solidFill>
          <a:ln w="12700">
            <a:solidFill>
              <a:srgbClr val="0D1B2A"/>
            </a:solidFill>
            <a:prstDash val="solid"/>
          </a:ln>
        </p:spPr>
        <p:txBody>
          <a:bodyPr/>
          <a:lstStyle/>
          <a:p>
            <a:endParaRPr lang="en-IN"/>
          </a:p>
        </p:txBody>
      </p:sp>
      <p:sp>
        <p:nvSpPr>
          <p:cNvPr id="3" name="Shape 1"/>
          <p:cNvSpPr/>
          <p:nvPr/>
        </p:nvSpPr>
        <p:spPr>
          <a:xfrm>
            <a:off x="790956" y="1097280"/>
            <a:ext cx="10607040" cy="4846320"/>
          </a:xfrm>
          <a:prstGeom prst="roundRect">
            <a:avLst/>
          </a:prstGeom>
          <a:solidFill>
            <a:srgbClr val="133B5C">
              <a:alpha val="92000"/>
            </a:srgbClr>
          </a:solidFill>
          <a:ln w="12700">
            <a:solidFill>
              <a:srgbClr val="2B6CB0"/>
            </a:solidFill>
            <a:prstDash val="solid"/>
          </a:ln>
        </p:spPr>
        <p:txBody>
          <a:bodyPr/>
          <a:lstStyle/>
          <a:p>
            <a:endParaRPr lang="en-IN" dirty="0"/>
          </a:p>
        </p:txBody>
      </p:sp>
      <p:sp>
        <p:nvSpPr>
          <p:cNvPr id="4" name="Text 2"/>
          <p:cNvSpPr/>
          <p:nvPr/>
        </p:nvSpPr>
        <p:spPr>
          <a:xfrm>
            <a:off x="1188720" y="1828800"/>
            <a:ext cx="9875520" cy="731520"/>
          </a:xfrm>
          <a:prstGeom prst="rect">
            <a:avLst/>
          </a:prstGeom>
          <a:noFill/>
          <a:ln/>
        </p:spPr>
        <p:txBody>
          <a:bodyPr wrap="square" rtlCol="0" anchor="ctr"/>
          <a:lstStyle/>
          <a:p>
            <a:pPr marL="0" indent="0" algn="ctr">
              <a:buNone/>
            </a:pPr>
            <a:r>
              <a:rPr lang="en-US" sz="4800" b="1" dirty="0">
                <a:solidFill>
                  <a:srgbClr val="93C5FD"/>
                </a:solidFill>
                <a:latin typeface="Calibri" pitchFamily="34" charset="0"/>
                <a:ea typeface="Calibri" pitchFamily="34" charset="-122"/>
                <a:cs typeface="Calibri" pitchFamily="34" charset="-120"/>
              </a:rPr>
              <a:t>URBAN-STAY</a:t>
            </a:r>
            <a:endParaRPr lang="en-US" sz="4800" dirty="0"/>
          </a:p>
        </p:txBody>
      </p:sp>
      <p:sp>
        <p:nvSpPr>
          <p:cNvPr id="5" name="Text 3"/>
          <p:cNvSpPr/>
          <p:nvPr/>
        </p:nvSpPr>
        <p:spPr>
          <a:xfrm>
            <a:off x="1188720" y="2697480"/>
            <a:ext cx="9875520" cy="54864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12-Week Progress Presentation</a:t>
            </a:r>
            <a:endParaRPr lang="en-US" sz="2800" dirty="0"/>
          </a:p>
        </p:txBody>
      </p:sp>
      <p:sp>
        <p:nvSpPr>
          <p:cNvPr id="6" name="Text 4"/>
          <p:cNvSpPr/>
          <p:nvPr/>
        </p:nvSpPr>
        <p:spPr>
          <a:xfrm>
            <a:off x="1188720" y="3337560"/>
            <a:ext cx="9875520" cy="365760"/>
          </a:xfrm>
          <a:prstGeom prst="rect">
            <a:avLst/>
          </a:prstGeom>
          <a:noFill/>
          <a:ln/>
        </p:spPr>
        <p:txBody>
          <a:bodyPr wrap="square" rtlCol="0" anchor="ctr"/>
          <a:lstStyle/>
          <a:p>
            <a:pPr marL="0" indent="0" algn="ctr">
              <a:buNone/>
            </a:pPr>
            <a:endParaRPr lang="en-US" sz="1600" dirty="0"/>
          </a:p>
        </p:txBody>
      </p:sp>
      <p:sp>
        <p:nvSpPr>
          <p:cNvPr id="7" name="Text 5"/>
          <p:cNvSpPr/>
          <p:nvPr/>
        </p:nvSpPr>
        <p:spPr>
          <a:xfrm>
            <a:off x="1188720" y="4069080"/>
            <a:ext cx="9875520" cy="320040"/>
          </a:xfrm>
          <a:prstGeom prst="rect">
            <a:avLst/>
          </a:prstGeom>
          <a:noFill/>
          <a:ln/>
        </p:spPr>
        <p:txBody>
          <a:bodyPr wrap="square" rtlCol="0" anchor="ctr"/>
          <a:lstStyle/>
          <a:p>
            <a:pPr marL="0" indent="0" algn="ctr">
              <a:buNone/>
            </a:pPr>
            <a:r>
              <a:rPr lang="en-US" sz="1400" b="1" dirty="0">
                <a:solidFill>
                  <a:srgbClr val="FDE68A"/>
                </a:solidFill>
                <a:latin typeface="Calibri" pitchFamily="34" charset="0"/>
                <a:ea typeface="Calibri" pitchFamily="34" charset="-122"/>
                <a:cs typeface="Calibri" pitchFamily="34" charset="-120"/>
              </a:rPr>
              <a:t>Status: Under Construction (Approximately 50-60% Complete)</a:t>
            </a:r>
            <a:endParaRPr lang="en-US" sz="1400" dirty="0"/>
          </a:p>
        </p:txBody>
      </p:sp>
      <p:sp>
        <p:nvSpPr>
          <p:cNvPr id="8" name="Text 6"/>
          <p:cNvSpPr/>
          <p:nvPr/>
        </p:nvSpPr>
        <p:spPr>
          <a:xfrm>
            <a:off x="1188720" y="4937760"/>
            <a:ext cx="9875520" cy="274320"/>
          </a:xfrm>
          <a:prstGeom prst="rect">
            <a:avLst/>
          </a:prstGeom>
          <a:noFill/>
          <a:ln/>
        </p:spPr>
        <p:txBody>
          <a:bodyPr wrap="square" rtlCol="0" anchor="ctr"/>
          <a:lstStyle/>
          <a:p>
            <a:pPr marL="0" indent="0" algn="ctr">
              <a:buNone/>
            </a:pPr>
            <a:r>
              <a:rPr lang="en-US" dirty="0">
                <a:solidFill>
                  <a:srgbClr val="BFDBFE"/>
                </a:solidFill>
                <a:latin typeface="Calibri" pitchFamily="34" charset="0"/>
                <a:ea typeface="Calibri" pitchFamily="34" charset="-122"/>
                <a:cs typeface="Calibri" pitchFamily="34" charset="-120"/>
              </a:rPr>
              <a:t>Prepared By: Harsh Rathod-230143107017</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0B2545"/>
          </a:solidFill>
          <a:ln w="12700">
            <a:solidFill>
              <a:srgbClr val="0B2545"/>
            </a:solidFill>
            <a:prstDash val="solid"/>
          </a:ln>
        </p:spPr>
        <p:txBody>
          <a:bodyPr/>
          <a:lstStyle/>
          <a:p>
            <a:endParaRPr lang="en-IN"/>
          </a:p>
        </p:txBody>
      </p:sp>
      <p:sp>
        <p:nvSpPr>
          <p:cNvPr id="3" name="Text 1"/>
          <p:cNvSpPr/>
          <p:nvPr/>
        </p:nvSpPr>
        <p:spPr>
          <a:xfrm>
            <a:off x="411480" y="164592"/>
            <a:ext cx="8046720" cy="32918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Presentation Flow</a:t>
            </a:r>
            <a:endParaRPr lang="en-US" sz="2100" dirty="0"/>
          </a:p>
        </p:txBody>
      </p:sp>
      <p:sp>
        <p:nvSpPr>
          <p:cNvPr id="4" name="Text 2"/>
          <p:cNvSpPr/>
          <p:nvPr/>
        </p:nvSpPr>
        <p:spPr>
          <a:xfrm>
            <a:off x="8412480" y="182880"/>
            <a:ext cx="3383280" cy="274320"/>
          </a:xfrm>
          <a:prstGeom prst="rect">
            <a:avLst/>
          </a:prstGeom>
          <a:noFill/>
          <a:ln/>
        </p:spPr>
        <p:txBody>
          <a:bodyPr wrap="square" rtlCol="0" anchor="ctr"/>
          <a:lstStyle/>
          <a:p>
            <a:pPr marL="0" indent="0" algn="r">
              <a:buNone/>
            </a:pPr>
            <a:r>
              <a:rPr lang="en-US" sz="1100" i="1" dirty="0">
                <a:solidFill>
                  <a:srgbClr val="C7D2FE"/>
                </a:solidFill>
                <a:latin typeface="Calibri" pitchFamily="34" charset="0"/>
                <a:ea typeface="Calibri" pitchFamily="34" charset="-122"/>
                <a:cs typeface="Calibri" pitchFamily="34" charset="-120"/>
              </a:rPr>
              <a:t>Weekly Progress Review</a:t>
            </a:r>
            <a:endParaRPr lang="en-US" sz="1100" dirty="0"/>
          </a:p>
        </p:txBody>
      </p:sp>
      <p:sp>
        <p:nvSpPr>
          <p:cNvPr id="5" name="Shape 3"/>
          <p:cNvSpPr/>
          <p:nvPr/>
        </p:nvSpPr>
        <p:spPr>
          <a:xfrm>
            <a:off x="0" y="713232"/>
            <a:ext cx="12188952" cy="0"/>
          </a:xfrm>
          <a:prstGeom prst="line">
            <a:avLst/>
          </a:prstGeom>
          <a:noFill/>
          <a:ln w="12700">
            <a:solidFill>
              <a:srgbClr val="0B6E6E"/>
            </a:solidFill>
            <a:prstDash val="solid"/>
          </a:ln>
        </p:spPr>
        <p:txBody>
          <a:bodyPr/>
          <a:lstStyle/>
          <a:p>
            <a:endParaRPr lang="en-IN"/>
          </a:p>
        </p:txBody>
      </p:sp>
      <p:sp>
        <p:nvSpPr>
          <p:cNvPr id="6" name="Text 4"/>
          <p:cNvSpPr/>
          <p:nvPr/>
        </p:nvSpPr>
        <p:spPr>
          <a:xfrm>
            <a:off x="822960" y="1234440"/>
            <a:ext cx="10515600" cy="4206240"/>
          </a:xfrm>
          <a:prstGeom prst="rect">
            <a:avLst/>
          </a:prstGeom>
          <a:noFill/>
          <a:ln/>
        </p:spPr>
        <p:txBody>
          <a:bodyPr wrap="square" rtlCol="0" anchor="ctr"/>
          <a:lstStyle/>
          <a:p>
            <a:pPr marL="279400" indent="-279400">
              <a:buSzPct val="100000"/>
              <a:buChar char="•"/>
            </a:pPr>
            <a:r>
              <a:rPr lang="en-US" sz="2800" dirty="0">
                <a:solidFill>
                  <a:srgbClr val="134074"/>
                </a:solidFill>
                <a:latin typeface="Calibri" pitchFamily="34" charset="0"/>
                <a:ea typeface="Calibri" pitchFamily="34" charset="-122"/>
                <a:cs typeface="Calibri" pitchFamily="34" charset="-120"/>
              </a:rPr>
              <a:t>Project Abstract and Objective</a:t>
            </a:r>
            <a:endParaRPr lang="en-US" sz="2800" dirty="0"/>
          </a:p>
          <a:p>
            <a:pPr marL="279400" indent="-279400">
              <a:buSzPct val="100000"/>
              <a:buChar char="•"/>
            </a:pPr>
            <a:r>
              <a:rPr lang="en-US" sz="2800" dirty="0">
                <a:solidFill>
                  <a:srgbClr val="134074"/>
                </a:solidFill>
                <a:latin typeface="Calibri" pitchFamily="34" charset="0"/>
                <a:ea typeface="Calibri" pitchFamily="34" charset="-122"/>
                <a:cs typeface="Calibri" pitchFamily="34" charset="-120"/>
              </a:rPr>
              <a:t>Minimal Features Implemented</a:t>
            </a:r>
            <a:endParaRPr lang="en-US" sz="2800" dirty="0"/>
          </a:p>
          <a:p>
            <a:pPr marL="279400" indent="-279400">
              <a:buSzPct val="100000"/>
              <a:buChar char="•"/>
            </a:pPr>
            <a:r>
              <a:rPr lang="en-US" sz="2800" dirty="0">
                <a:solidFill>
                  <a:srgbClr val="134074"/>
                </a:solidFill>
                <a:latin typeface="Calibri" pitchFamily="34" charset="0"/>
                <a:ea typeface="Calibri" pitchFamily="34" charset="-122"/>
                <a:cs typeface="Calibri" pitchFamily="34" charset="-120"/>
              </a:rPr>
              <a:t>Technology Stack Used</a:t>
            </a:r>
            <a:endParaRPr lang="en-US" sz="2800" dirty="0"/>
          </a:p>
          <a:p>
            <a:pPr marL="279400" indent="-279400">
              <a:buSzPct val="100000"/>
              <a:buChar char="•"/>
            </a:pPr>
            <a:r>
              <a:rPr lang="en-US" sz="2800" dirty="0">
                <a:solidFill>
                  <a:srgbClr val="134074"/>
                </a:solidFill>
                <a:latin typeface="Calibri" pitchFamily="34" charset="0"/>
                <a:ea typeface="Calibri" pitchFamily="34" charset="-122"/>
                <a:cs typeface="Calibri" pitchFamily="34" charset="-120"/>
              </a:rPr>
              <a:t>Weekly Progress (Week 1 to Week 12)</a:t>
            </a:r>
            <a:endParaRPr lang="en-US" sz="2800" dirty="0"/>
          </a:p>
          <a:p>
            <a:pPr marL="279400" indent="-279400">
              <a:buSzPct val="100000"/>
              <a:buChar char="•"/>
            </a:pPr>
            <a:r>
              <a:rPr lang="en-US" sz="2800" dirty="0">
                <a:solidFill>
                  <a:srgbClr val="134074"/>
                </a:solidFill>
                <a:latin typeface="Calibri" pitchFamily="34" charset="0"/>
                <a:ea typeface="Calibri" pitchFamily="34" charset="-122"/>
                <a:cs typeface="Calibri" pitchFamily="34" charset="-120"/>
              </a:rPr>
              <a:t>Half-Done Modules (Under Construction)</a:t>
            </a:r>
            <a:endParaRPr lang="en-US" sz="2800" dirty="0"/>
          </a:p>
          <a:p>
            <a:pPr marL="279400" indent="-279400">
              <a:buSzPct val="100000"/>
              <a:buChar char="•"/>
            </a:pPr>
            <a:r>
              <a:rPr lang="en-US" sz="2800" dirty="0">
                <a:solidFill>
                  <a:srgbClr val="134074"/>
                </a:solidFill>
                <a:latin typeface="Calibri" pitchFamily="34" charset="0"/>
                <a:ea typeface="Calibri" pitchFamily="34" charset="-122"/>
                <a:cs typeface="Calibri" pitchFamily="34" charset="-120"/>
              </a:rPr>
              <a:t>Current Status, Challenges, and Next Steps</a:t>
            </a:r>
            <a:endParaRPr lang="en-US" sz="2000" dirty="0"/>
          </a:p>
        </p:txBody>
      </p:sp>
      <p:sp>
        <p:nvSpPr>
          <p:cNvPr id="7" name="Shape 5"/>
          <p:cNvSpPr/>
          <p:nvPr/>
        </p:nvSpPr>
        <p:spPr>
          <a:xfrm>
            <a:off x="9692640" y="6309360"/>
            <a:ext cx="2148840" cy="320040"/>
          </a:xfrm>
          <a:prstGeom prst="roundRect">
            <a:avLst/>
          </a:prstGeom>
          <a:solidFill>
            <a:srgbClr val="2E8B57"/>
          </a:solidFill>
          <a:ln w="12700">
            <a:solidFill>
              <a:srgbClr val="2E8B57"/>
            </a:solidFill>
            <a:prstDash val="solid"/>
          </a:ln>
        </p:spPr>
        <p:txBody>
          <a:bodyPr/>
          <a:lstStyle/>
          <a:p>
            <a:endParaRPr lang="en-IN"/>
          </a:p>
        </p:txBody>
      </p:sp>
      <p:sp>
        <p:nvSpPr>
          <p:cNvPr id="8" name="Text 6"/>
          <p:cNvSpPr/>
          <p:nvPr/>
        </p:nvSpPr>
        <p:spPr>
          <a:xfrm>
            <a:off x="9692640" y="6364224"/>
            <a:ext cx="2148840" cy="1828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Academic Review Ready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0B2545"/>
          </a:solidFill>
          <a:ln w="12700">
            <a:solidFill>
              <a:srgbClr val="0B2545"/>
            </a:solidFill>
            <a:prstDash val="solid"/>
          </a:ln>
        </p:spPr>
        <p:txBody>
          <a:bodyPr/>
          <a:lstStyle/>
          <a:p>
            <a:endParaRPr lang="en-IN"/>
          </a:p>
        </p:txBody>
      </p:sp>
      <p:sp>
        <p:nvSpPr>
          <p:cNvPr id="3" name="Text 1"/>
          <p:cNvSpPr/>
          <p:nvPr/>
        </p:nvSpPr>
        <p:spPr>
          <a:xfrm>
            <a:off x="411480" y="164592"/>
            <a:ext cx="8046720" cy="32918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Project Abstract</a:t>
            </a:r>
            <a:endParaRPr lang="en-US" sz="2100" dirty="0"/>
          </a:p>
        </p:txBody>
      </p:sp>
      <p:sp>
        <p:nvSpPr>
          <p:cNvPr id="4" name="Text 2"/>
          <p:cNvSpPr/>
          <p:nvPr/>
        </p:nvSpPr>
        <p:spPr>
          <a:xfrm>
            <a:off x="8412480" y="182880"/>
            <a:ext cx="3383280" cy="274320"/>
          </a:xfrm>
          <a:prstGeom prst="rect">
            <a:avLst/>
          </a:prstGeom>
          <a:noFill/>
          <a:ln/>
        </p:spPr>
        <p:txBody>
          <a:bodyPr wrap="square" rtlCol="0" anchor="ctr"/>
          <a:lstStyle/>
          <a:p>
            <a:pPr marL="0" indent="0" algn="r">
              <a:buNone/>
            </a:pPr>
            <a:r>
              <a:rPr lang="en-US" sz="1100" i="1" dirty="0">
                <a:solidFill>
                  <a:srgbClr val="C7D2FE"/>
                </a:solidFill>
                <a:latin typeface="Calibri" pitchFamily="34" charset="0"/>
                <a:ea typeface="Calibri" pitchFamily="34" charset="-122"/>
                <a:cs typeface="Calibri" pitchFamily="34" charset="-120"/>
              </a:rPr>
              <a:t>Urban-Stay Real Estate Platform</a:t>
            </a:r>
            <a:endParaRPr lang="en-US" sz="1100" dirty="0"/>
          </a:p>
        </p:txBody>
      </p:sp>
      <p:sp>
        <p:nvSpPr>
          <p:cNvPr id="5" name="Shape 3"/>
          <p:cNvSpPr/>
          <p:nvPr/>
        </p:nvSpPr>
        <p:spPr>
          <a:xfrm>
            <a:off x="0" y="713232"/>
            <a:ext cx="12188952" cy="0"/>
          </a:xfrm>
          <a:prstGeom prst="line">
            <a:avLst/>
          </a:prstGeom>
          <a:noFill/>
          <a:ln w="12700">
            <a:solidFill>
              <a:srgbClr val="0B6E6E"/>
            </a:solidFill>
            <a:prstDash val="solid"/>
          </a:ln>
        </p:spPr>
        <p:txBody>
          <a:bodyPr/>
          <a:lstStyle/>
          <a:p>
            <a:endParaRPr lang="en-IN"/>
          </a:p>
        </p:txBody>
      </p:sp>
      <p:sp>
        <p:nvSpPr>
          <p:cNvPr id="6" name="Shape 4"/>
          <p:cNvSpPr/>
          <p:nvPr/>
        </p:nvSpPr>
        <p:spPr>
          <a:xfrm>
            <a:off x="731520" y="1188720"/>
            <a:ext cx="10972800" cy="4480560"/>
          </a:xfrm>
          <a:prstGeom prst="roundRect">
            <a:avLst/>
          </a:prstGeom>
          <a:solidFill>
            <a:srgbClr val="EEF4FF"/>
          </a:solidFill>
          <a:ln w="12700">
            <a:solidFill>
              <a:srgbClr val="BBD0FF"/>
            </a:solidFill>
            <a:prstDash val="solid"/>
          </a:ln>
        </p:spPr>
        <p:txBody>
          <a:bodyPr/>
          <a:lstStyle/>
          <a:p>
            <a:endParaRPr lang="en-IN"/>
          </a:p>
        </p:txBody>
      </p:sp>
      <p:sp>
        <p:nvSpPr>
          <p:cNvPr id="7" name="Text 5"/>
          <p:cNvSpPr/>
          <p:nvPr/>
        </p:nvSpPr>
        <p:spPr>
          <a:xfrm>
            <a:off x="1005840" y="1554480"/>
            <a:ext cx="10424160" cy="3840480"/>
          </a:xfrm>
          <a:prstGeom prst="rect">
            <a:avLst/>
          </a:prstGeom>
          <a:noFill/>
          <a:ln/>
        </p:spPr>
        <p:txBody>
          <a:bodyPr wrap="square" rtlCol="0" anchor="t"/>
          <a:lstStyle/>
          <a:p>
            <a:pPr algn="just"/>
            <a:r>
              <a:rPr lang="en-GB" sz="2000" dirty="0"/>
              <a:t>Urban-Stay is a full-stack real estate platform designed to streamline property discovery, listing management, and buyer-seller communication within a single digital ecosystem. The project addresses common issues in traditional property search such as fragmented listing information, delayed responses, and limited transparency by offering a structured, role-based workflow. The system supports three primary roles: User, Seller, and Admin. Users can explore properties using smart search and filter options, view detailed listings, save alerts, and submit inquiries. Sellers can create and manage property listings, monitor incoming inquiries, and communicate with potential buyers. Admins are responsible for verification, quality control, and platform-level monitoring to ensure reliable and secure operations.</a:t>
            </a:r>
            <a:endParaRPr lang="en-US" sz="2400" dirty="0"/>
          </a:p>
          <a:p>
            <a:pPr marL="0" indent="0">
              <a:buNone/>
            </a:pPr>
            <a:endParaRPr lang="en-US" sz="2000" dirty="0">
              <a:solidFill>
                <a:srgbClr val="1E293B"/>
              </a:solidFill>
              <a:latin typeface="Calibri" pitchFamily="34" charset="0"/>
              <a:ea typeface="Calibri" pitchFamily="34" charset="-122"/>
              <a:cs typeface="Calibri" pitchFamily="34" charset="-120"/>
            </a:endParaRPr>
          </a:p>
          <a:p>
            <a:pPr marL="0" indent="0">
              <a:buNone/>
            </a:pPr>
            <a:r>
              <a:rPr lang="en-US" sz="2000" dirty="0">
                <a:solidFill>
                  <a:srgbClr val="1E293B"/>
                </a:solidFill>
                <a:latin typeface="Calibri" pitchFamily="34" charset="0"/>
                <a:ea typeface="Calibri" pitchFamily="34" charset="-122"/>
                <a:cs typeface="Calibri" pitchFamily="34" charset="-120"/>
              </a:rPr>
              <a:t>This project is currently under construction, and this report presents work completed over 12 weeks.</a:t>
            </a:r>
            <a:endParaRPr lang="en-US" sz="2000" dirty="0"/>
          </a:p>
        </p:txBody>
      </p:sp>
      <p:sp>
        <p:nvSpPr>
          <p:cNvPr id="8" name="Shape 6"/>
          <p:cNvSpPr/>
          <p:nvPr/>
        </p:nvSpPr>
        <p:spPr>
          <a:xfrm>
            <a:off x="9692640" y="6309360"/>
            <a:ext cx="2148840" cy="320040"/>
          </a:xfrm>
          <a:prstGeom prst="roundRect">
            <a:avLst/>
          </a:prstGeom>
          <a:solidFill>
            <a:srgbClr val="D97706"/>
          </a:solidFill>
          <a:ln w="12700">
            <a:solidFill>
              <a:srgbClr val="D97706"/>
            </a:solidFill>
            <a:prstDash val="solid"/>
          </a:ln>
        </p:spPr>
        <p:txBody>
          <a:bodyPr/>
          <a:lstStyle/>
          <a:p>
            <a:endParaRPr lang="en-IN"/>
          </a:p>
        </p:txBody>
      </p:sp>
      <p:sp>
        <p:nvSpPr>
          <p:cNvPr id="9" name="Text 7"/>
          <p:cNvSpPr/>
          <p:nvPr/>
        </p:nvSpPr>
        <p:spPr>
          <a:xfrm>
            <a:off x="9692640" y="6364224"/>
            <a:ext cx="2148840" cy="1828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Under Construction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0B2545"/>
          </a:solidFill>
          <a:ln w="12700">
            <a:solidFill>
              <a:srgbClr val="0B2545"/>
            </a:solidFill>
            <a:prstDash val="solid"/>
          </a:ln>
        </p:spPr>
        <p:txBody>
          <a:bodyPr/>
          <a:lstStyle/>
          <a:p>
            <a:endParaRPr lang="en-IN"/>
          </a:p>
        </p:txBody>
      </p:sp>
      <p:sp>
        <p:nvSpPr>
          <p:cNvPr id="3" name="Text 1"/>
          <p:cNvSpPr/>
          <p:nvPr/>
        </p:nvSpPr>
        <p:spPr>
          <a:xfrm>
            <a:off x="411480" y="164592"/>
            <a:ext cx="8046720" cy="32918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Objective and Minimal Features</a:t>
            </a:r>
            <a:endParaRPr lang="en-US" sz="2100" dirty="0"/>
          </a:p>
        </p:txBody>
      </p:sp>
      <p:sp>
        <p:nvSpPr>
          <p:cNvPr id="4" name="Text 2"/>
          <p:cNvSpPr/>
          <p:nvPr/>
        </p:nvSpPr>
        <p:spPr>
          <a:xfrm>
            <a:off x="8412480" y="182880"/>
            <a:ext cx="3383280" cy="274320"/>
          </a:xfrm>
          <a:prstGeom prst="rect">
            <a:avLst/>
          </a:prstGeom>
          <a:noFill/>
          <a:ln/>
        </p:spPr>
        <p:txBody>
          <a:bodyPr wrap="square" rtlCol="0" anchor="ctr"/>
          <a:lstStyle/>
          <a:p>
            <a:pPr marL="0" indent="0" algn="r">
              <a:buNone/>
            </a:pPr>
            <a:r>
              <a:rPr lang="en-US" sz="1100" i="1" dirty="0">
                <a:solidFill>
                  <a:srgbClr val="C7D2FE"/>
                </a:solidFill>
                <a:latin typeface="Calibri" pitchFamily="34" charset="0"/>
                <a:ea typeface="Calibri" pitchFamily="34" charset="-122"/>
                <a:cs typeface="Calibri" pitchFamily="34" charset="-120"/>
              </a:rPr>
              <a:t>What is implemented now</a:t>
            </a:r>
            <a:endParaRPr lang="en-US" sz="1100" dirty="0"/>
          </a:p>
        </p:txBody>
      </p:sp>
      <p:sp>
        <p:nvSpPr>
          <p:cNvPr id="5" name="Shape 3"/>
          <p:cNvSpPr/>
          <p:nvPr/>
        </p:nvSpPr>
        <p:spPr>
          <a:xfrm>
            <a:off x="0" y="713232"/>
            <a:ext cx="12188952" cy="0"/>
          </a:xfrm>
          <a:prstGeom prst="line">
            <a:avLst/>
          </a:prstGeom>
          <a:noFill/>
          <a:ln w="12700">
            <a:solidFill>
              <a:srgbClr val="0B6E6E"/>
            </a:solidFill>
            <a:prstDash val="solid"/>
          </a:ln>
        </p:spPr>
        <p:txBody>
          <a:bodyPr/>
          <a:lstStyle/>
          <a:p>
            <a:endParaRPr lang="en-IN"/>
          </a:p>
        </p:txBody>
      </p:sp>
      <p:sp>
        <p:nvSpPr>
          <p:cNvPr id="6" name="Text 4"/>
          <p:cNvSpPr/>
          <p:nvPr/>
        </p:nvSpPr>
        <p:spPr>
          <a:xfrm>
            <a:off x="822960" y="1097280"/>
            <a:ext cx="5303520" cy="320040"/>
          </a:xfrm>
          <a:prstGeom prst="rect">
            <a:avLst/>
          </a:prstGeom>
          <a:noFill/>
          <a:ln/>
        </p:spPr>
        <p:txBody>
          <a:bodyPr wrap="square"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Project Objective</a:t>
            </a:r>
            <a:endParaRPr lang="en-US" sz="1800" dirty="0"/>
          </a:p>
        </p:txBody>
      </p:sp>
      <p:sp>
        <p:nvSpPr>
          <p:cNvPr id="7" name="Text 5"/>
          <p:cNvSpPr/>
          <p:nvPr/>
        </p:nvSpPr>
        <p:spPr>
          <a:xfrm>
            <a:off x="853440" y="1463040"/>
            <a:ext cx="5394960" cy="1325880"/>
          </a:xfrm>
          <a:prstGeom prst="rect">
            <a:avLst/>
          </a:prstGeom>
          <a:noFill/>
          <a:ln/>
        </p:spPr>
        <p:txBody>
          <a:bodyPr wrap="square" rtlCol="0" anchor="ctr"/>
          <a:lstStyle/>
          <a:p>
            <a:pPr marL="0" indent="0" algn="just">
              <a:buNone/>
            </a:pPr>
            <a:r>
              <a:rPr lang="en-US" sz="2000" dirty="0">
                <a:solidFill>
                  <a:srgbClr val="334155"/>
                </a:solidFill>
                <a:latin typeface="Calibri" pitchFamily="34" charset="0"/>
                <a:ea typeface="Calibri" pitchFamily="34" charset="-122"/>
                <a:cs typeface="Calibri" pitchFamily="34" charset="-120"/>
              </a:rPr>
              <a:t>To build a practical web platform where users can search properties and communicate with sellers using a secure, role-based workflow.</a:t>
            </a:r>
            <a:endParaRPr lang="en-US" sz="2000" dirty="0"/>
          </a:p>
        </p:txBody>
      </p:sp>
      <p:sp>
        <p:nvSpPr>
          <p:cNvPr id="8" name="Shape 6"/>
          <p:cNvSpPr/>
          <p:nvPr/>
        </p:nvSpPr>
        <p:spPr>
          <a:xfrm>
            <a:off x="6263640" y="1097280"/>
            <a:ext cx="0" cy="4389120"/>
          </a:xfrm>
          <a:prstGeom prst="line">
            <a:avLst/>
          </a:prstGeom>
          <a:noFill/>
          <a:ln w="12700">
            <a:solidFill>
              <a:srgbClr val="B6C6D9"/>
            </a:solidFill>
            <a:prstDash val="solid"/>
          </a:ln>
        </p:spPr>
        <p:txBody>
          <a:bodyPr/>
          <a:lstStyle/>
          <a:p>
            <a:endParaRPr lang="en-IN"/>
          </a:p>
        </p:txBody>
      </p:sp>
      <p:sp>
        <p:nvSpPr>
          <p:cNvPr id="9" name="Text 7"/>
          <p:cNvSpPr/>
          <p:nvPr/>
        </p:nvSpPr>
        <p:spPr>
          <a:xfrm>
            <a:off x="6583680" y="1097280"/>
            <a:ext cx="4846320" cy="320040"/>
          </a:xfrm>
          <a:prstGeom prst="rect">
            <a:avLst/>
          </a:prstGeom>
          <a:noFill/>
          <a:ln/>
        </p:spPr>
        <p:txBody>
          <a:bodyPr wrap="square" rtlCol="0" anchor="ctr"/>
          <a:lstStyle/>
          <a:p>
            <a:pPr marL="0" indent="0">
              <a:buNone/>
            </a:pPr>
            <a:r>
              <a:rPr lang="en-US" sz="1800" b="1" dirty="0">
                <a:solidFill>
                  <a:srgbClr val="0B2545"/>
                </a:solidFill>
                <a:latin typeface="Calibri" pitchFamily="34" charset="0"/>
                <a:ea typeface="Calibri" pitchFamily="34" charset="-122"/>
                <a:cs typeface="Calibri" pitchFamily="34" charset="-120"/>
              </a:rPr>
              <a:t>Minimal Features Completed</a:t>
            </a:r>
            <a:endParaRPr lang="en-US" sz="1800" dirty="0"/>
          </a:p>
        </p:txBody>
      </p:sp>
      <p:sp>
        <p:nvSpPr>
          <p:cNvPr id="10" name="Text 8"/>
          <p:cNvSpPr/>
          <p:nvPr/>
        </p:nvSpPr>
        <p:spPr>
          <a:xfrm>
            <a:off x="6583680" y="1508760"/>
            <a:ext cx="4754880" cy="3566160"/>
          </a:xfrm>
          <a:prstGeom prst="rect">
            <a:avLst/>
          </a:prstGeom>
          <a:noFill/>
          <a:ln/>
        </p:spPr>
        <p:txBody>
          <a:bodyPr wrap="square" rtlCol="0" anchor="ctr"/>
          <a:lstStyle/>
          <a:p>
            <a:pPr marL="203200" indent="-203200">
              <a:buSzPct val="100000"/>
              <a:buChar char="•"/>
            </a:pPr>
            <a:r>
              <a:rPr lang="en-US" sz="2000" dirty="0">
                <a:solidFill>
                  <a:srgbClr val="334155"/>
                </a:solidFill>
                <a:latin typeface="Calibri" pitchFamily="34" charset="0"/>
                <a:ea typeface="Calibri" pitchFamily="34" charset="-122"/>
                <a:cs typeface="Calibri" pitchFamily="34" charset="-120"/>
              </a:rPr>
              <a:t>User registration and login</a:t>
            </a:r>
            <a:endParaRPr lang="en-US" sz="2000" dirty="0"/>
          </a:p>
          <a:p>
            <a:pPr marL="203200" indent="-203200">
              <a:buSzPct val="100000"/>
              <a:buChar char="•"/>
            </a:pPr>
            <a:r>
              <a:rPr lang="en-US" sz="2000" dirty="0">
                <a:solidFill>
                  <a:srgbClr val="334155"/>
                </a:solidFill>
                <a:latin typeface="Calibri" pitchFamily="34" charset="0"/>
                <a:ea typeface="Calibri" pitchFamily="34" charset="-122"/>
                <a:cs typeface="Calibri" pitchFamily="34" charset="-120"/>
              </a:rPr>
              <a:t>Property listing and search filter</a:t>
            </a:r>
            <a:endParaRPr lang="en-US" sz="2000" dirty="0"/>
          </a:p>
          <a:p>
            <a:pPr marL="203200" indent="-203200">
              <a:buSzPct val="100000"/>
              <a:buChar char="•"/>
            </a:pPr>
            <a:r>
              <a:rPr lang="en-US" sz="2000" dirty="0">
                <a:solidFill>
                  <a:srgbClr val="334155"/>
                </a:solidFill>
                <a:latin typeface="Calibri" pitchFamily="34" charset="0"/>
                <a:ea typeface="Calibri" pitchFamily="34" charset="-122"/>
                <a:cs typeface="Calibri" pitchFamily="34" charset="-120"/>
              </a:rPr>
              <a:t>Basic role dashboards</a:t>
            </a:r>
            <a:endParaRPr lang="en-US" sz="2000" dirty="0"/>
          </a:p>
          <a:p>
            <a:pPr marL="203200" indent="-203200">
              <a:buSzPct val="100000"/>
              <a:buChar char="•"/>
            </a:pPr>
            <a:r>
              <a:rPr lang="en-US" sz="2000" dirty="0">
                <a:solidFill>
                  <a:srgbClr val="334155"/>
                </a:solidFill>
                <a:latin typeface="Calibri" pitchFamily="34" charset="0"/>
                <a:ea typeface="Calibri" pitchFamily="34" charset="-122"/>
                <a:cs typeface="Calibri" pitchFamily="34" charset="-120"/>
              </a:rPr>
              <a:t>Inquiry and review flows</a:t>
            </a:r>
            <a:endParaRPr lang="en-US" sz="2000" dirty="0"/>
          </a:p>
          <a:p>
            <a:pPr marL="203200" indent="-203200">
              <a:buSzPct val="100000"/>
              <a:buChar char="•"/>
            </a:pPr>
            <a:r>
              <a:rPr lang="en-US" sz="2000" dirty="0">
                <a:solidFill>
                  <a:srgbClr val="334155"/>
                </a:solidFill>
                <a:latin typeface="Calibri" pitchFamily="34" charset="0"/>
                <a:ea typeface="Calibri" pitchFamily="34" charset="-122"/>
                <a:cs typeface="Calibri" pitchFamily="34" charset="-120"/>
              </a:rPr>
              <a:t>Saved alerts and featured listings</a:t>
            </a:r>
            <a:endParaRPr lang="en-US" sz="1400" dirty="0"/>
          </a:p>
        </p:txBody>
      </p:sp>
      <p:sp>
        <p:nvSpPr>
          <p:cNvPr id="11" name="Shape 9"/>
          <p:cNvSpPr/>
          <p:nvPr/>
        </p:nvSpPr>
        <p:spPr>
          <a:xfrm>
            <a:off x="9692640" y="6309360"/>
            <a:ext cx="2148840" cy="320040"/>
          </a:xfrm>
          <a:prstGeom prst="roundRect">
            <a:avLst/>
          </a:prstGeom>
          <a:solidFill>
            <a:srgbClr val="2E8B57"/>
          </a:solidFill>
          <a:ln w="12700">
            <a:solidFill>
              <a:srgbClr val="2E8B57"/>
            </a:solidFill>
            <a:prstDash val="solid"/>
          </a:ln>
        </p:spPr>
        <p:txBody>
          <a:bodyPr/>
          <a:lstStyle/>
          <a:p>
            <a:endParaRPr lang="en-IN"/>
          </a:p>
        </p:txBody>
      </p:sp>
      <p:sp>
        <p:nvSpPr>
          <p:cNvPr id="12" name="Text 10"/>
          <p:cNvSpPr/>
          <p:nvPr/>
        </p:nvSpPr>
        <p:spPr>
          <a:xfrm>
            <a:off x="9692640" y="6364224"/>
            <a:ext cx="2148840" cy="1828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Core MVP Available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0B2545"/>
          </a:solidFill>
          <a:ln w="12700">
            <a:solidFill>
              <a:srgbClr val="0B2545"/>
            </a:solidFill>
            <a:prstDash val="solid"/>
          </a:ln>
        </p:spPr>
        <p:txBody>
          <a:bodyPr/>
          <a:lstStyle/>
          <a:p>
            <a:endParaRPr lang="en-IN"/>
          </a:p>
        </p:txBody>
      </p:sp>
      <p:sp>
        <p:nvSpPr>
          <p:cNvPr id="3" name="Text 1"/>
          <p:cNvSpPr/>
          <p:nvPr/>
        </p:nvSpPr>
        <p:spPr>
          <a:xfrm>
            <a:off x="411480" y="164592"/>
            <a:ext cx="8046720" cy="32918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Technology Stack</a:t>
            </a:r>
            <a:endParaRPr lang="en-US" sz="2100" dirty="0"/>
          </a:p>
        </p:txBody>
      </p:sp>
      <p:sp>
        <p:nvSpPr>
          <p:cNvPr id="4" name="Text 2"/>
          <p:cNvSpPr/>
          <p:nvPr/>
        </p:nvSpPr>
        <p:spPr>
          <a:xfrm>
            <a:off x="8412480" y="182880"/>
            <a:ext cx="3383280" cy="274320"/>
          </a:xfrm>
          <a:prstGeom prst="rect">
            <a:avLst/>
          </a:prstGeom>
          <a:noFill/>
          <a:ln/>
        </p:spPr>
        <p:txBody>
          <a:bodyPr wrap="square" rtlCol="0" anchor="ctr"/>
          <a:lstStyle/>
          <a:p>
            <a:pPr marL="0" indent="0" algn="r">
              <a:buNone/>
            </a:pPr>
            <a:r>
              <a:rPr lang="en-US" sz="1100" i="1" dirty="0">
                <a:solidFill>
                  <a:srgbClr val="C7D2FE"/>
                </a:solidFill>
                <a:latin typeface="Calibri" pitchFamily="34" charset="0"/>
                <a:ea typeface="Calibri" pitchFamily="34" charset="-122"/>
                <a:cs typeface="Calibri" pitchFamily="34" charset="-120"/>
              </a:rPr>
              <a:t>Tools learned and applied</a:t>
            </a:r>
            <a:endParaRPr lang="en-US" sz="1100" dirty="0"/>
          </a:p>
        </p:txBody>
      </p:sp>
      <p:sp>
        <p:nvSpPr>
          <p:cNvPr id="5" name="Shape 3"/>
          <p:cNvSpPr/>
          <p:nvPr/>
        </p:nvSpPr>
        <p:spPr>
          <a:xfrm>
            <a:off x="0" y="713232"/>
            <a:ext cx="12188952" cy="0"/>
          </a:xfrm>
          <a:prstGeom prst="line">
            <a:avLst/>
          </a:prstGeom>
          <a:noFill/>
          <a:ln w="12700">
            <a:solidFill>
              <a:srgbClr val="0B6E6E"/>
            </a:solidFill>
            <a:prstDash val="solid"/>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2802967857"/>
              </p:ext>
            </p:extLst>
          </p:nvPr>
        </p:nvGraphicFramePr>
        <p:xfrm>
          <a:off x="914400" y="1371600"/>
          <a:ext cx="10332720" cy="3474720"/>
        </p:xfrm>
        <a:graphic>
          <a:graphicData uri="http://schemas.openxmlformats.org/drawingml/2006/table">
            <a:tbl>
              <a:tblPr/>
              <a:tblGrid>
                <a:gridCol w="210312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548640">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Layer</a:t>
                      </a:r>
                      <a:endParaRPr lang="en-US" sz="15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Technology</a:t>
                      </a:r>
                      <a:endParaRPr lang="en-US" sz="15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31520">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Frontend</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React 18, Vite, React Router, Tailwind CSS, Axios</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Backend</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Node.js, Express.js, MongoDB, Mongoose</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Security</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JWT Authentication, bcrypt Password Hashing</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Additional</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Razorpay, Nodemailer, Flask ML Service</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4"/>
          <p:cNvSpPr/>
          <p:nvPr/>
        </p:nvSpPr>
        <p:spPr>
          <a:xfrm>
            <a:off x="914400" y="1371600"/>
            <a:ext cx="10332720" cy="548640"/>
          </a:xfrm>
          <a:prstGeom prst="rect">
            <a:avLst/>
          </a:prstGeom>
          <a:solidFill>
            <a:srgbClr val="134074"/>
          </a:solidFill>
          <a:ln w="12700">
            <a:solidFill>
              <a:srgbClr val="134074"/>
            </a:solidFill>
            <a:prstDash val="solid"/>
          </a:ln>
        </p:spPr>
        <p:txBody>
          <a:bodyPr/>
          <a:lstStyle/>
          <a:p>
            <a:endParaRPr lang="en-IN"/>
          </a:p>
        </p:txBody>
      </p:sp>
      <p:sp>
        <p:nvSpPr>
          <p:cNvPr id="8" name="Shape 5"/>
          <p:cNvSpPr/>
          <p:nvPr/>
        </p:nvSpPr>
        <p:spPr>
          <a:xfrm>
            <a:off x="9692640" y="6309360"/>
            <a:ext cx="2148840" cy="320040"/>
          </a:xfrm>
          <a:prstGeom prst="roundRect">
            <a:avLst/>
          </a:prstGeom>
          <a:solidFill>
            <a:srgbClr val="0B6E6E"/>
          </a:solidFill>
          <a:ln w="12700">
            <a:solidFill>
              <a:srgbClr val="0B6E6E"/>
            </a:solidFill>
            <a:prstDash val="solid"/>
          </a:ln>
        </p:spPr>
        <p:txBody>
          <a:bodyPr/>
          <a:lstStyle/>
          <a:p>
            <a:endParaRPr lang="en-IN"/>
          </a:p>
        </p:txBody>
      </p:sp>
      <p:sp>
        <p:nvSpPr>
          <p:cNvPr id="9" name="Text 6"/>
          <p:cNvSpPr/>
          <p:nvPr/>
        </p:nvSpPr>
        <p:spPr>
          <a:xfrm>
            <a:off x="9692640" y="6364224"/>
            <a:ext cx="2148840" cy="1828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Learning to Implementation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0B2545"/>
          </a:solidFill>
          <a:ln w="12700">
            <a:solidFill>
              <a:srgbClr val="0B2545"/>
            </a:solidFill>
            <a:prstDash val="solid"/>
          </a:ln>
        </p:spPr>
        <p:txBody>
          <a:bodyPr/>
          <a:lstStyle/>
          <a:p>
            <a:endParaRPr lang="en-IN"/>
          </a:p>
        </p:txBody>
      </p:sp>
      <p:sp>
        <p:nvSpPr>
          <p:cNvPr id="3" name="Text 1"/>
          <p:cNvSpPr/>
          <p:nvPr/>
        </p:nvSpPr>
        <p:spPr>
          <a:xfrm>
            <a:off x="411480" y="164592"/>
            <a:ext cx="8046720" cy="32918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Weeks 1-3 Progress</a:t>
            </a:r>
            <a:endParaRPr lang="en-US" sz="2100" dirty="0"/>
          </a:p>
        </p:txBody>
      </p:sp>
      <p:sp>
        <p:nvSpPr>
          <p:cNvPr id="4" name="Text 2"/>
          <p:cNvSpPr/>
          <p:nvPr/>
        </p:nvSpPr>
        <p:spPr>
          <a:xfrm>
            <a:off x="8412480" y="182880"/>
            <a:ext cx="3383280" cy="274320"/>
          </a:xfrm>
          <a:prstGeom prst="rect">
            <a:avLst/>
          </a:prstGeom>
          <a:noFill/>
          <a:ln/>
        </p:spPr>
        <p:txBody>
          <a:bodyPr wrap="square" rtlCol="0" anchor="ctr"/>
          <a:lstStyle/>
          <a:p>
            <a:pPr marL="0" indent="0" algn="r">
              <a:buNone/>
            </a:pPr>
            <a:r>
              <a:rPr lang="en-US" sz="1100" i="1" dirty="0">
                <a:solidFill>
                  <a:srgbClr val="C7D2FE"/>
                </a:solidFill>
                <a:latin typeface="Calibri" pitchFamily="34" charset="0"/>
                <a:ea typeface="Calibri" pitchFamily="34" charset="-122"/>
                <a:cs typeface="Calibri" pitchFamily="34" charset="-120"/>
              </a:rPr>
              <a:t>Learning + Mini Project Phase</a:t>
            </a:r>
            <a:endParaRPr lang="en-US" sz="1100" dirty="0"/>
          </a:p>
        </p:txBody>
      </p:sp>
      <p:sp>
        <p:nvSpPr>
          <p:cNvPr id="5" name="Shape 3"/>
          <p:cNvSpPr/>
          <p:nvPr/>
        </p:nvSpPr>
        <p:spPr>
          <a:xfrm>
            <a:off x="0" y="713232"/>
            <a:ext cx="12188952" cy="0"/>
          </a:xfrm>
          <a:prstGeom prst="line">
            <a:avLst/>
          </a:prstGeom>
          <a:noFill/>
          <a:ln w="12700">
            <a:solidFill>
              <a:srgbClr val="0B6E6E"/>
            </a:solidFill>
            <a:prstDash val="solid"/>
          </a:ln>
        </p:spPr>
        <p:txBody>
          <a:bodyPr/>
          <a:lstStyle/>
          <a:p>
            <a:endParaRPr lang="en-IN"/>
          </a:p>
        </p:txBody>
      </p:sp>
      <p:graphicFrame>
        <p:nvGraphicFramePr>
          <p:cNvPr id="7" name="Table 0"/>
          <p:cNvGraphicFramePr>
            <a:graphicFrameLocks noGrp="1"/>
          </p:cNvGraphicFramePr>
          <p:nvPr>
            <p:extLst>
              <p:ext uri="{D42A27DB-BD31-4B8C-83A1-F6EECF244321}">
                <p14:modId xmlns:p14="http://schemas.microsoft.com/office/powerpoint/2010/main" val="868478172"/>
              </p:ext>
            </p:extLst>
          </p:nvPr>
        </p:nvGraphicFramePr>
        <p:xfrm>
          <a:off x="640080" y="1325880"/>
          <a:ext cx="10972800" cy="3703320"/>
        </p:xfrm>
        <a:graphic>
          <a:graphicData uri="http://schemas.openxmlformats.org/drawingml/2006/table">
            <a:tbl>
              <a:tblPr/>
              <a:tblGrid>
                <a:gridCol w="13716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54864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Week</a:t>
                      </a:r>
                      <a:endParaRPr lang="en-US" sz="13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Focus Area</a:t>
                      </a:r>
                      <a:endParaRPr lang="en-US" sz="13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51560">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Week 1</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Project-related technologies: Git, Node.js basics, MongoDB fundamentals</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Completed guided practice and local setup</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51560">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Week 2</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React fundamentals, routing basics, API calling with Axios</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Built small UI pages and tested API integration</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51560">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Week 3</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Mini project to apply MERN concepts end-to-end</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Mini CRUD project completed and documented</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4"/>
          <p:cNvSpPr/>
          <p:nvPr/>
        </p:nvSpPr>
        <p:spPr>
          <a:xfrm>
            <a:off x="640080" y="1325880"/>
            <a:ext cx="10972800" cy="548640"/>
          </a:xfrm>
          <a:prstGeom prst="rect">
            <a:avLst/>
          </a:prstGeom>
          <a:solidFill>
            <a:srgbClr val="134074"/>
          </a:solidFill>
          <a:ln w="12700">
            <a:solidFill>
              <a:srgbClr val="134074"/>
            </a:solidFill>
            <a:prstDash val="solid"/>
          </a:ln>
        </p:spPr>
        <p:txBody>
          <a:bodyPr/>
          <a:lstStyle/>
          <a:p>
            <a:endParaRPr lang="en-IN"/>
          </a:p>
        </p:txBody>
      </p:sp>
      <p:sp>
        <p:nvSpPr>
          <p:cNvPr id="8" name="Text 5"/>
          <p:cNvSpPr/>
          <p:nvPr/>
        </p:nvSpPr>
        <p:spPr>
          <a:xfrm>
            <a:off x="822960" y="5623560"/>
            <a:ext cx="10607040" cy="320040"/>
          </a:xfrm>
          <a:prstGeom prst="rect">
            <a:avLst/>
          </a:prstGeom>
          <a:noFill/>
          <a:ln/>
        </p:spPr>
        <p:txBody>
          <a:bodyPr wrap="square" rtlCol="0" anchor="ctr"/>
          <a:lstStyle/>
          <a:p>
            <a:pPr marL="0" indent="0">
              <a:buNone/>
            </a:pPr>
            <a:endParaRPr lang="en-US" sz="1200" dirty="0"/>
          </a:p>
        </p:txBody>
      </p:sp>
      <p:sp>
        <p:nvSpPr>
          <p:cNvPr id="9" name="Shape 6"/>
          <p:cNvSpPr/>
          <p:nvPr/>
        </p:nvSpPr>
        <p:spPr>
          <a:xfrm>
            <a:off x="9692640" y="6309360"/>
            <a:ext cx="2148840" cy="320040"/>
          </a:xfrm>
          <a:prstGeom prst="roundRect">
            <a:avLst/>
          </a:prstGeom>
          <a:solidFill>
            <a:srgbClr val="2E8B57"/>
          </a:solidFill>
          <a:ln w="12700">
            <a:solidFill>
              <a:srgbClr val="2E8B57"/>
            </a:solidFill>
            <a:prstDash val="solid"/>
          </a:ln>
        </p:spPr>
        <p:txBody>
          <a:bodyPr/>
          <a:lstStyle/>
          <a:p>
            <a:endParaRPr lang="en-IN"/>
          </a:p>
        </p:txBody>
      </p:sp>
      <p:sp>
        <p:nvSpPr>
          <p:cNvPr id="10" name="Text 7"/>
          <p:cNvSpPr/>
          <p:nvPr/>
        </p:nvSpPr>
        <p:spPr>
          <a:xfrm>
            <a:off x="9692640" y="6364224"/>
            <a:ext cx="2148840" cy="1828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Foundation Complete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0B2545"/>
          </a:solidFill>
          <a:ln w="12700">
            <a:solidFill>
              <a:srgbClr val="0B2545"/>
            </a:solidFill>
            <a:prstDash val="solid"/>
          </a:ln>
        </p:spPr>
        <p:txBody>
          <a:bodyPr/>
          <a:lstStyle/>
          <a:p>
            <a:endParaRPr lang="en-IN"/>
          </a:p>
        </p:txBody>
      </p:sp>
      <p:sp>
        <p:nvSpPr>
          <p:cNvPr id="3" name="Text 1"/>
          <p:cNvSpPr/>
          <p:nvPr/>
        </p:nvSpPr>
        <p:spPr>
          <a:xfrm>
            <a:off x="411480" y="164592"/>
            <a:ext cx="8046720" cy="32918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Weeks 4-7 Progress</a:t>
            </a:r>
            <a:endParaRPr lang="en-US" sz="2100" dirty="0"/>
          </a:p>
        </p:txBody>
      </p:sp>
      <p:sp>
        <p:nvSpPr>
          <p:cNvPr id="4" name="Text 2"/>
          <p:cNvSpPr/>
          <p:nvPr/>
        </p:nvSpPr>
        <p:spPr>
          <a:xfrm>
            <a:off x="8412480" y="182880"/>
            <a:ext cx="3383280" cy="274320"/>
          </a:xfrm>
          <a:prstGeom prst="rect">
            <a:avLst/>
          </a:prstGeom>
          <a:noFill/>
          <a:ln/>
        </p:spPr>
        <p:txBody>
          <a:bodyPr wrap="square" rtlCol="0" anchor="ctr"/>
          <a:lstStyle/>
          <a:p>
            <a:pPr marL="0" indent="0" algn="r">
              <a:buNone/>
            </a:pPr>
            <a:r>
              <a:rPr lang="en-US" sz="1100" i="1" dirty="0">
                <a:solidFill>
                  <a:srgbClr val="C7D2FE"/>
                </a:solidFill>
                <a:latin typeface="Calibri" pitchFamily="34" charset="0"/>
                <a:ea typeface="Calibri" pitchFamily="34" charset="-122"/>
                <a:cs typeface="Calibri" pitchFamily="34" charset="-120"/>
              </a:rPr>
              <a:t>Initial Urban-Stay Development</a:t>
            </a:r>
            <a:endParaRPr lang="en-US" sz="1100" dirty="0"/>
          </a:p>
        </p:txBody>
      </p:sp>
      <p:sp>
        <p:nvSpPr>
          <p:cNvPr id="5" name="Shape 3"/>
          <p:cNvSpPr/>
          <p:nvPr/>
        </p:nvSpPr>
        <p:spPr>
          <a:xfrm>
            <a:off x="0" y="713232"/>
            <a:ext cx="12188952" cy="0"/>
          </a:xfrm>
          <a:prstGeom prst="line">
            <a:avLst/>
          </a:prstGeom>
          <a:noFill/>
          <a:ln w="12700">
            <a:solidFill>
              <a:srgbClr val="0B6E6E"/>
            </a:solidFill>
            <a:prstDash val="solid"/>
          </a:ln>
        </p:spPr>
        <p:txBody>
          <a:bodyPr/>
          <a:lstStyle/>
          <a:p>
            <a:endParaRPr lang="en-IN"/>
          </a:p>
        </p:txBody>
      </p:sp>
      <p:graphicFrame>
        <p:nvGraphicFramePr>
          <p:cNvPr id="8" name="Table 0"/>
          <p:cNvGraphicFramePr>
            <a:graphicFrameLocks noGrp="1"/>
          </p:cNvGraphicFramePr>
          <p:nvPr>
            <p:extLst>
              <p:ext uri="{D42A27DB-BD31-4B8C-83A1-F6EECF244321}">
                <p14:modId xmlns:p14="http://schemas.microsoft.com/office/powerpoint/2010/main" val="2985250163"/>
              </p:ext>
            </p:extLst>
          </p:nvPr>
        </p:nvGraphicFramePr>
        <p:xfrm>
          <a:off x="731520" y="1325880"/>
          <a:ext cx="10789920" cy="4206240"/>
        </p:xfrm>
        <a:graphic>
          <a:graphicData uri="http://schemas.openxmlformats.org/drawingml/2006/table">
            <a:tbl>
              <a:tblPr/>
              <a:tblGrid>
                <a:gridCol w="1645920">
                  <a:extLst>
                    <a:ext uri="{9D8B030D-6E8A-4147-A177-3AD203B41FA5}">
                      <a16:colId xmlns:a16="http://schemas.microsoft.com/office/drawing/2014/main" val="20000"/>
                    </a:ext>
                  </a:extLst>
                </a:gridCol>
                <a:gridCol w="71323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54864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Week</a:t>
                      </a:r>
                      <a:endParaRPr lang="en-US" sz="13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Work Done</a:t>
                      </a:r>
                      <a:endParaRPr lang="en-US" sz="13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914400">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Week 4</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Project architecture planning, folder setup, route planning</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Completed</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Week 5</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Frontend base screens: home layout, navigation, reusable UI components</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Completed</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Week 6</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Authentication pages and role-based route protection</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Completed</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Week 7</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Property listing basics, form setup, API connection start</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Completed</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4"/>
          <p:cNvSpPr/>
          <p:nvPr/>
        </p:nvSpPr>
        <p:spPr>
          <a:xfrm>
            <a:off x="731520" y="1325880"/>
            <a:ext cx="10789920" cy="548640"/>
          </a:xfrm>
          <a:prstGeom prst="rect">
            <a:avLst/>
          </a:prstGeom>
          <a:solidFill>
            <a:srgbClr val="134074"/>
          </a:solidFill>
          <a:ln w="12700">
            <a:solidFill>
              <a:srgbClr val="134074"/>
            </a:solidFill>
            <a:prstDash val="solid"/>
          </a:ln>
        </p:spPr>
        <p:txBody>
          <a:bodyPr/>
          <a:lstStyle/>
          <a:p>
            <a:endParaRPr lang="en-IN"/>
          </a:p>
        </p:txBody>
      </p:sp>
      <p:sp>
        <p:nvSpPr>
          <p:cNvPr id="6" name="Shape 5"/>
          <p:cNvSpPr/>
          <p:nvPr/>
        </p:nvSpPr>
        <p:spPr>
          <a:xfrm>
            <a:off x="9692640" y="6309360"/>
            <a:ext cx="2148840" cy="320040"/>
          </a:xfrm>
          <a:prstGeom prst="roundRect">
            <a:avLst/>
          </a:prstGeom>
          <a:solidFill>
            <a:srgbClr val="0B6E6E"/>
          </a:solidFill>
          <a:ln w="12700">
            <a:solidFill>
              <a:srgbClr val="0B6E6E"/>
            </a:solidFill>
            <a:prstDash val="solid"/>
          </a:ln>
        </p:spPr>
        <p:txBody>
          <a:bodyPr/>
          <a:lstStyle/>
          <a:p>
            <a:endParaRPr lang="en-IN"/>
          </a:p>
        </p:txBody>
      </p:sp>
      <p:sp>
        <p:nvSpPr>
          <p:cNvPr id="9" name="Text 6"/>
          <p:cNvSpPr/>
          <p:nvPr/>
        </p:nvSpPr>
        <p:spPr>
          <a:xfrm>
            <a:off x="9692640" y="6364224"/>
            <a:ext cx="2148840" cy="1828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Core Setup Done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0B2545"/>
          </a:solidFill>
          <a:ln w="12700">
            <a:solidFill>
              <a:srgbClr val="0B2545"/>
            </a:solidFill>
            <a:prstDash val="solid"/>
          </a:ln>
        </p:spPr>
        <p:txBody>
          <a:bodyPr/>
          <a:lstStyle/>
          <a:p>
            <a:endParaRPr lang="en-IN"/>
          </a:p>
        </p:txBody>
      </p:sp>
      <p:sp>
        <p:nvSpPr>
          <p:cNvPr id="3" name="Text 1"/>
          <p:cNvSpPr/>
          <p:nvPr/>
        </p:nvSpPr>
        <p:spPr>
          <a:xfrm>
            <a:off x="411480" y="164592"/>
            <a:ext cx="8046720" cy="32918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Weeks 8-12 Progress</a:t>
            </a:r>
            <a:endParaRPr lang="en-US" sz="2100" dirty="0"/>
          </a:p>
        </p:txBody>
      </p:sp>
      <p:sp>
        <p:nvSpPr>
          <p:cNvPr id="4" name="Text 2"/>
          <p:cNvSpPr/>
          <p:nvPr/>
        </p:nvSpPr>
        <p:spPr>
          <a:xfrm>
            <a:off x="8412480" y="182880"/>
            <a:ext cx="3383280" cy="274320"/>
          </a:xfrm>
          <a:prstGeom prst="rect">
            <a:avLst/>
          </a:prstGeom>
          <a:noFill/>
          <a:ln/>
        </p:spPr>
        <p:txBody>
          <a:bodyPr wrap="square" rtlCol="0" anchor="ctr"/>
          <a:lstStyle/>
          <a:p>
            <a:pPr marL="0" indent="0" algn="r">
              <a:buNone/>
            </a:pPr>
            <a:r>
              <a:rPr lang="en-US" sz="1100" i="1" dirty="0">
                <a:solidFill>
                  <a:srgbClr val="C7D2FE"/>
                </a:solidFill>
                <a:latin typeface="Calibri" pitchFamily="34" charset="0"/>
                <a:ea typeface="Calibri" pitchFamily="34" charset="-122"/>
                <a:cs typeface="Calibri" pitchFamily="34" charset="-120"/>
              </a:rPr>
              <a:t>API, Dashboard, and Integrations</a:t>
            </a:r>
            <a:endParaRPr lang="en-US" sz="1100" dirty="0"/>
          </a:p>
        </p:txBody>
      </p:sp>
      <p:sp>
        <p:nvSpPr>
          <p:cNvPr id="5" name="Shape 3"/>
          <p:cNvSpPr/>
          <p:nvPr/>
        </p:nvSpPr>
        <p:spPr>
          <a:xfrm>
            <a:off x="0" y="713232"/>
            <a:ext cx="12188952" cy="0"/>
          </a:xfrm>
          <a:prstGeom prst="line">
            <a:avLst/>
          </a:prstGeom>
          <a:noFill/>
          <a:ln w="12700">
            <a:solidFill>
              <a:srgbClr val="0B6E6E"/>
            </a:solidFill>
            <a:prstDash val="solid"/>
          </a:ln>
        </p:spPr>
        <p:txBody>
          <a:bodyPr/>
          <a:lstStyle/>
          <a:p>
            <a:endParaRPr lang="en-IN"/>
          </a:p>
        </p:txBody>
      </p:sp>
      <p:graphicFrame>
        <p:nvGraphicFramePr>
          <p:cNvPr id="9" name="Table 0"/>
          <p:cNvGraphicFramePr>
            <a:graphicFrameLocks noGrp="1"/>
          </p:cNvGraphicFramePr>
          <p:nvPr>
            <p:extLst>
              <p:ext uri="{D42A27DB-BD31-4B8C-83A1-F6EECF244321}">
                <p14:modId xmlns:p14="http://schemas.microsoft.com/office/powerpoint/2010/main" val="36460528"/>
              </p:ext>
            </p:extLst>
          </p:nvPr>
        </p:nvGraphicFramePr>
        <p:xfrm>
          <a:off x="731520" y="1234440"/>
          <a:ext cx="10789920" cy="4645152"/>
        </p:xfrm>
        <a:graphic>
          <a:graphicData uri="http://schemas.openxmlformats.org/drawingml/2006/table">
            <a:tbl>
              <a:tblPr/>
              <a:tblGrid>
                <a:gridCol w="1554480">
                  <a:extLst>
                    <a:ext uri="{9D8B030D-6E8A-4147-A177-3AD203B41FA5}">
                      <a16:colId xmlns:a16="http://schemas.microsoft.com/office/drawing/2014/main" val="20000"/>
                    </a:ext>
                  </a:extLst>
                </a:gridCol>
                <a:gridCol w="74066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3035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Week</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Work Done</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22960">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Week 8</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Property search/filter, property details page, image handling</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Mostly Done</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Week 9</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User/Seller/Admin dashboard modules and inquiry flow</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Mostly Done</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22960">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Week 10</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Backend model/controller development and DB logic</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Mostly Done</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22960">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Week 11</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Review, alerts, and featured listing modules</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Mostly Done</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22960">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Week 12</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ML and payment integration started; full testing pending</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000" dirty="0">
                          <a:solidFill>
                            <a:srgbClr val="1F2937"/>
                          </a:solidFill>
                          <a:latin typeface="Calibri" pitchFamily="34" charset="0"/>
                          <a:ea typeface="Calibri" pitchFamily="34" charset="-122"/>
                          <a:cs typeface="Calibri" pitchFamily="34" charset="-120"/>
                        </a:rPr>
                        <a:t>In Progress</a:t>
                      </a:r>
                      <a:endParaRPr lang="en-US" sz="20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731520" y="1234440"/>
            <a:ext cx="10789920" cy="530352"/>
          </a:xfrm>
          <a:prstGeom prst="rect">
            <a:avLst/>
          </a:prstGeom>
          <a:solidFill>
            <a:srgbClr val="134074"/>
          </a:solidFill>
          <a:ln w="12700">
            <a:solidFill>
              <a:srgbClr val="134074"/>
            </a:solidFill>
            <a:prstDash val="solid"/>
          </a:ln>
        </p:spPr>
        <p:txBody>
          <a:bodyPr/>
          <a:lstStyle/>
          <a:p>
            <a:endParaRPr lang="en-IN"/>
          </a:p>
        </p:txBody>
      </p:sp>
      <p:sp>
        <p:nvSpPr>
          <p:cNvPr id="8" name="Shape 5"/>
          <p:cNvSpPr/>
          <p:nvPr/>
        </p:nvSpPr>
        <p:spPr>
          <a:xfrm>
            <a:off x="9692640" y="6309360"/>
            <a:ext cx="2148840" cy="320040"/>
          </a:xfrm>
          <a:prstGeom prst="roundRect">
            <a:avLst/>
          </a:prstGeom>
          <a:solidFill>
            <a:srgbClr val="D97706"/>
          </a:solidFill>
          <a:ln w="12700">
            <a:solidFill>
              <a:srgbClr val="D97706"/>
            </a:solidFill>
            <a:prstDash val="solid"/>
          </a:ln>
        </p:spPr>
        <p:txBody>
          <a:bodyPr/>
          <a:lstStyle/>
          <a:p>
            <a:endParaRPr lang="en-IN"/>
          </a:p>
        </p:txBody>
      </p:sp>
      <p:sp>
        <p:nvSpPr>
          <p:cNvPr id="6" name="Text 6"/>
          <p:cNvSpPr/>
          <p:nvPr/>
        </p:nvSpPr>
        <p:spPr>
          <a:xfrm>
            <a:off x="9692640" y="6364224"/>
            <a:ext cx="2148840" cy="1828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Integration Pending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0B2545"/>
          </a:solidFill>
          <a:ln w="12700">
            <a:solidFill>
              <a:srgbClr val="0B2545"/>
            </a:solidFill>
            <a:prstDash val="solid"/>
          </a:ln>
        </p:spPr>
        <p:txBody>
          <a:bodyPr/>
          <a:lstStyle/>
          <a:p>
            <a:endParaRPr lang="en-IN"/>
          </a:p>
        </p:txBody>
      </p:sp>
      <p:sp>
        <p:nvSpPr>
          <p:cNvPr id="3" name="Text 1"/>
          <p:cNvSpPr/>
          <p:nvPr/>
        </p:nvSpPr>
        <p:spPr>
          <a:xfrm>
            <a:off x="411480" y="164592"/>
            <a:ext cx="8046720" cy="32918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Modules Completed</a:t>
            </a:r>
            <a:endParaRPr lang="en-US" sz="2100" dirty="0"/>
          </a:p>
        </p:txBody>
      </p:sp>
      <p:sp>
        <p:nvSpPr>
          <p:cNvPr id="4" name="Text 2"/>
          <p:cNvSpPr/>
          <p:nvPr/>
        </p:nvSpPr>
        <p:spPr>
          <a:xfrm>
            <a:off x="8412480" y="182880"/>
            <a:ext cx="3383280" cy="274320"/>
          </a:xfrm>
          <a:prstGeom prst="rect">
            <a:avLst/>
          </a:prstGeom>
          <a:noFill/>
          <a:ln/>
        </p:spPr>
        <p:txBody>
          <a:bodyPr wrap="square" rtlCol="0" anchor="ctr"/>
          <a:lstStyle/>
          <a:p>
            <a:pPr marL="0" indent="0" algn="r">
              <a:buNone/>
            </a:pPr>
            <a:r>
              <a:rPr lang="en-US" sz="1100" i="1" dirty="0">
                <a:solidFill>
                  <a:srgbClr val="C7D2FE"/>
                </a:solidFill>
                <a:latin typeface="Calibri" pitchFamily="34" charset="0"/>
                <a:ea typeface="Calibri" pitchFamily="34" charset="-122"/>
                <a:cs typeface="Calibri" pitchFamily="34" charset="-120"/>
              </a:rPr>
              <a:t>Implemented and working modules</a:t>
            </a:r>
            <a:endParaRPr lang="en-US" sz="1100" dirty="0"/>
          </a:p>
        </p:txBody>
      </p:sp>
      <p:sp>
        <p:nvSpPr>
          <p:cNvPr id="5" name="Shape 3"/>
          <p:cNvSpPr/>
          <p:nvPr/>
        </p:nvSpPr>
        <p:spPr>
          <a:xfrm>
            <a:off x="0" y="713232"/>
            <a:ext cx="12188952" cy="0"/>
          </a:xfrm>
          <a:prstGeom prst="line">
            <a:avLst/>
          </a:prstGeom>
          <a:noFill/>
          <a:ln w="12700">
            <a:solidFill>
              <a:srgbClr val="0B6E6E"/>
            </a:solidFill>
            <a:prstDash val="solid"/>
          </a:ln>
        </p:spPr>
        <p:txBody>
          <a:bodyPr/>
          <a:lstStyle/>
          <a:p>
            <a:endParaRPr lang="en-IN"/>
          </a:p>
        </p:txBody>
      </p:sp>
      <p:sp>
        <p:nvSpPr>
          <p:cNvPr id="6" name="Shape 4"/>
          <p:cNvSpPr/>
          <p:nvPr/>
        </p:nvSpPr>
        <p:spPr>
          <a:xfrm>
            <a:off x="685800" y="1143000"/>
            <a:ext cx="10972800" cy="5257800"/>
          </a:xfrm>
          <a:prstGeom prst="roundRect">
            <a:avLst/>
          </a:prstGeom>
          <a:solidFill>
            <a:srgbClr val="ECFDF5"/>
          </a:solidFill>
          <a:ln w="12700">
            <a:solidFill>
              <a:srgbClr val="A7F3D0"/>
            </a:solidFill>
            <a:prstDash val="solid"/>
          </a:ln>
        </p:spPr>
        <p:txBody>
          <a:bodyPr/>
          <a:lstStyle/>
          <a:p>
            <a:endParaRPr lang="en-IN"/>
          </a:p>
        </p:txBody>
      </p:sp>
      <p:sp>
        <p:nvSpPr>
          <p:cNvPr id="7" name="Text 5"/>
          <p:cNvSpPr/>
          <p:nvPr/>
        </p:nvSpPr>
        <p:spPr>
          <a:xfrm>
            <a:off x="914400" y="1463040"/>
            <a:ext cx="10515600" cy="4572000"/>
          </a:xfrm>
          <a:prstGeom prst="rect">
            <a:avLst/>
          </a:prstGeom>
          <a:noFill/>
          <a:ln/>
        </p:spPr>
        <p:txBody>
          <a:bodyPr wrap="square" rtlCol="0" anchor="ctr"/>
          <a:lstStyle/>
          <a:p>
            <a:pPr marL="228600" indent="-228600">
              <a:buSzPct val="100000"/>
              <a:buChar char="•"/>
            </a:pPr>
            <a:r>
              <a:rPr lang="en-US" sz="2800" dirty="0">
                <a:solidFill>
                  <a:srgbClr val="065F46"/>
                </a:solidFill>
                <a:latin typeface="Calibri" pitchFamily="34" charset="0"/>
                <a:ea typeface="Calibri" pitchFamily="34" charset="-122"/>
                <a:cs typeface="Calibri" pitchFamily="34" charset="-120"/>
              </a:rPr>
              <a:t>Authentication module (register, login, role-based access)</a:t>
            </a:r>
            <a:endParaRPr lang="en-US" sz="2800" dirty="0"/>
          </a:p>
          <a:p>
            <a:pPr marL="228600" indent="-228600">
              <a:buSzPct val="100000"/>
              <a:buChar char="•"/>
            </a:pPr>
            <a:r>
              <a:rPr lang="en-US" sz="2800" dirty="0">
                <a:solidFill>
                  <a:srgbClr val="065F46"/>
                </a:solidFill>
                <a:latin typeface="Calibri" pitchFamily="34" charset="0"/>
                <a:ea typeface="Calibri" pitchFamily="34" charset="-122"/>
                <a:cs typeface="Calibri" pitchFamily="34" charset="-120"/>
              </a:rPr>
              <a:t>Property listing and search/filter module</a:t>
            </a:r>
            <a:endParaRPr lang="en-US" sz="2800" dirty="0"/>
          </a:p>
          <a:p>
            <a:pPr marL="228600" indent="-228600">
              <a:buSzPct val="100000"/>
              <a:buChar char="•"/>
            </a:pPr>
            <a:r>
              <a:rPr lang="en-US" sz="2800" dirty="0">
                <a:solidFill>
                  <a:srgbClr val="065F46"/>
                </a:solidFill>
                <a:latin typeface="Calibri" pitchFamily="34" charset="0"/>
                <a:ea typeface="Calibri" pitchFamily="34" charset="-122"/>
                <a:cs typeface="Calibri" pitchFamily="34" charset="-120"/>
              </a:rPr>
              <a:t>Basic user, seller, and admin dashboard structure</a:t>
            </a:r>
            <a:endParaRPr lang="en-US" sz="2800" dirty="0"/>
          </a:p>
          <a:p>
            <a:pPr marL="228600" indent="-228600">
              <a:buSzPct val="100000"/>
              <a:buChar char="•"/>
            </a:pPr>
            <a:r>
              <a:rPr lang="en-US" sz="2800" dirty="0">
                <a:solidFill>
                  <a:srgbClr val="065F46"/>
                </a:solidFill>
                <a:latin typeface="Calibri" pitchFamily="34" charset="0"/>
                <a:ea typeface="Calibri" pitchFamily="34" charset="-122"/>
                <a:cs typeface="Calibri" pitchFamily="34" charset="-120"/>
              </a:rPr>
              <a:t>Inquiry and review submission workflows</a:t>
            </a:r>
            <a:endParaRPr lang="en-US" sz="2800" dirty="0"/>
          </a:p>
          <a:p>
            <a:pPr marL="228600" indent="-228600">
              <a:buSzPct val="100000"/>
              <a:buChar char="•"/>
            </a:pPr>
            <a:r>
              <a:rPr lang="en-US" sz="2800" dirty="0">
                <a:solidFill>
                  <a:srgbClr val="065F46"/>
                </a:solidFill>
                <a:latin typeface="Calibri" pitchFamily="34" charset="0"/>
                <a:ea typeface="Calibri" pitchFamily="34" charset="-122"/>
                <a:cs typeface="Calibri" pitchFamily="34" charset="-120"/>
              </a:rPr>
              <a:t>Saved alert and featured listing core flows</a:t>
            </a:r>
            <a:endParaRPr lang="en-US" sz="2800" dirty="0"/>
          </a:p>
          <a:p>
            <a:pPr marL="228600" indent="-228600">
              <a:buSzPct val="100000"/>
              <a:buChar char="•"/>
            </a:pPr>
            <a:r>
              <a:rPr lang="en-US" sz="2800" dirty="0">
                <a:solidFill>
                  <a:srgbClr val="065F46"/>
                </a:solidFill>
                <a:latin typeface="Calibri" pitchFamily="34" charset="0"/>
                <a:ea typeface="Calibri" pitchFamily="34" charset="-122"/>
                <a:cs typeface="Calibri" pitchFamily="34" charset="-120"/>
              </a:rPr>
              <a:t>Initial frontend-backend integration for primary routes</a:t>
            </a:r>
            <a:endParaRPr lang="en-US" sz="1600" dirty="0"/>
          </a:p>
        </p:txBody>
      </p:sp>
      <p:sp>
        <p:nvSpPr>
          <p:cNvPr id="8" name="Shape 6"/>
          <p:cNvSpPr/>
          <p:nvPr/>
        </p:nvSpPr>
        <p:spPr>
          <a:xfrm>
            <a:off x="9692640" y="6309360"/>
            <a:ext cx="2148840" cy="320040"/>
          </a:xfrm>
          <a:prstGeom prst="roundRect">
            <a:avLst/>
          </a:prstGeom>
          <a:solidFill>
            <a:srgbClr val="2E8B57"/>
          </a:solidFill>
          <a:ln w="12700">
            <a:solidFill>
              <a:srgbClr val="2E8B57"/>
            </a:solidFill>
            <a:prstDash val="solid"/>
          </a:ln>
        </p:spPr>
        <p:txBody>
          <a:bodyPr/>
          <a:lstStyle/>
          <a:p>
            <a:endParaRPr lang="en-IN"/>
          </a:p>
        </p:txBody>
      </p:sp>
      <p:sp>
        <p:nvSpPr>
          <p:cNvPr id="9" name="Text 7"/>
          <p:cNvSpPr/>
          <p:nvPr/>
        </p:nvSpPr>
        <p:spPr>
          <a:xfrm>
            <a:off x="9692640" y="6364224"/>
            <a:ext cx="2148840" cy="1828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Working Modules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0B2545"/>
          </a:solidFill>
          <a:ln w="12700">
            <a:solidFill>
              <a:srgbClr val="0B2545"/>
            </a:solidFill>
            <a:prstDash val="solid"/>
          </a:ln>
        </p:spPr>
        <p:txBody>
          <a:bodyPr/>
          <a:lstStyle/>
          <a:p>
            <a:endParaRPr lang="en-IN"/>
          </a:p>
        </p:txBody>
      </p:sp>
      <p:sp>
        <p:nvSpPr>
          <p:cNvPr id="3" name="Text 1"/>
          <p:cNvSpPr/>
          <p:nvPr/>
        </p:nvSpPr>
        <p:spPr>
          <a:xfrm>
            <a:off x="411480" y="164592"/>
            <a:ext cx="8046720" cy="32918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Half-Done / Under-Construction Modules</a:t>
            </a:r>
            <a:endParaRPr lang="en-US" sz="2100" dirty="0"/>
          </a:p>
        </p:txBody>
      </p:sp>
      <p:sp>
        <p:nvSpPr>
          <p:cNvPr id="4" name="Text 2"/>
          <p:cNvSpPr/>
          <p:nvPr/>
        </p:nvSpPr>
        <p:spPr>
          <a:xfrm>
            <a:off x="8412480" y="182880"/>
            <a:ext cx="3383280" cy="274320"/>
          </a:xfrm>
          <a:prstGeom prst="rect">
            <a:avLst/>
          </a:prstGeom>
          <a:noFill/>
          <a:ln/>
        </p:spPr>
        <p:txBody>
          <a:bodyPr wrap="square" rtlCol="0" anchor="ctr"/>
          <a:lstStyle/>
          <a:p>
            <a:pPr marL="0" indent="0" algn="r">
              <a:buNone/>
            </a:pPr>
            <a:r>
              <a:rPr lang="en-US" sz="1100" i="1" dirty="0">
                <a:solidFill>
                  <a:srgbClr val="C7D2FE"/>
                </a:solidFill>
                <a:latin typeface="Calibri" pitchFamily="34" charset="0"/>
                <a:ea typeface="Calibri" pitchFamily="34" charset="-122"/>
                <a:cs typeface="Calibri" pitchFamily="34" charset="-120"/>
              </a:rPr>
              <a:t>Focus areas pending completion</a:t>
            </a:r>
            <a:endParaRPr lang="en-US" sz="1100" dirty="0"/>
          </a:p>
        </p:txBody>
      </p:sp>
      <p:sp>
        <p:nvSpPr>
          <p:cNvPr id="5" name="Shape 3"/>
          <p:cNvSpPr/>
          <p:nvPr/>
        </p:nvSpPr>
        <p:spPr>
          <a:xfrm>
            <a:off x="0" y="713232"/>
            <a:ext cx="12188952" cy="0"/>
          </a:xfrm>
          <a:prstGeom prst="line">
            <a:avLst/>
          </a:prstGeom>
          <a:noFill/>
          <a:ln w="12700">
            <a:solidFill>
              <a:srgbClr val="0B6E6E"/>
            </a:solidFill>
            <a:prstDash val="solid"/>
          </a:ln>
        </p:spPr>
        <p:txBody>
          <a:bodyPr/>
          <a:lstStyle/>
          <a:p>
            <a:endParaRPr lang="en-IN"/>
          </a:p>
        </p:txBody>
      </p:sp>
      <p:sp>
        <p:nvSpPr>
          <p:cNvPr id="6" name="Shape 4"/>
          <p:cNvSpPr/>
          <p:nvPr/>
        </p:nvSpPr>
        <p:spPr>
          <a:xfrm>
            <a:off x="685800" y="1097280"/>
            <a:ext cx="10972800" cy="5394960"/>
          </a:xfrm>
          <a:prstGeom prst="roundRect">
            <a:avLst/>
          </a:prstGeom>
          <a:solidFill>
            <a:srgbClr val="FFF7ED"/>
          </a:solidFill>
          <a:ln w="12700">
            <a:solidFill>
              <a:srgbClr val="FED7AA"/>
            </a:solidFill>
            <a:prstDash val="solid"/>
          </a:ln>
        </p:spPr>
        <p:txBody>
          <a:bodyPr/>
          <a:lstStyle/>
          <a:p>
            <a:endParaRPr lang="en-IN"/>
          </a:p>
        </p:txBody>
      </p:sp>
      <p:sp>
        <p:nvSpPr>
          <p:cNvPr id="7" name="Text 5"/>
          <p:cNvSpPr/>
          <p:nvPr/>
        </p:nvSpPr>
        <p:spPr>
          <a:xfrm>
            <a:off x="914400" y="1417320"/>
            <a:ext cx="10607040" cy="4754880"/>
          </a:xfrm>
          <a:prstGeom prst="rect">
            <a:avLst/>
          </a:prstGeom>
          <a:noFill/>
          <a:ln/>
        </p:spPr>
        <p:txBody>
          <a:bodyPr wrap="square" rtlCol="0" anchor="ctr"/>
          <a:lstStyle/>
          <a:p>
            <a:pPr marL="228600" indent="-228600">
              <a:buSzPct val="100000"/>
              <a:buChar char="•"/>
            </a:pPr>
            <a:r>
              <a:rPr lang="en-US" sz="2800" dirty="0">
                <a:solidFill>
                  <a:srgbClr val="9A3412"/>
                </a:solidFill>
                <a:latin typeface="Calibri" pitchFamily="34" charset="0"/>
                <a:ea typeface="Calibri" pitchFamily="34" charset="-122"/>
                <a:cs typeface="Calibri" pitchFamily="34" charset="-120"/>
              </a:rPr>
              <a:t>Advanced seller workflow and complete inquiry response cycle</a:t>
            </a:r>
            <a:endParaRPr lang="en-US" sz="2800" dirty="0"/>
          </a:p>
          <a:p>
            <a:pPr marL="228600" indent="-228600">
              <a:buSzPct val="100000"/>
              <a:buChar char="•"/>
            </a:pPr>
            <a:r>
              <a:rPr lang="en-US" sz="2800" dirty="0">
                <a:solidFill>
                  <a:srgbClr val="9A3412"/>
                </a:solidFill>
                <a:latin typeface="Calibri" pitchFamily="34" charset="0"/>
                <a:ea typeface="Calibri" pitchFamily="34" charset="-122"/>
                <a:cs typeface="Calibri" pitchFamily="34" charset="-120"/>
              </a:rPr>
              <a:t>Admin verification refinements and analytics improvements</a:t>
            </a:r>
            <a:endParaRPr lang="en-US" sz="2800" dirty="0"/>
          </a:p>
          <a:p>
            <a:pPr marL="228600" indent="-228600">
              <a:buSzPct val="100000"/>
              <a:buChar char="•"/>
            </a:pPr>
            <a:r>
              <a:rPr lang="en-US" sz="2800" dirty="0">
                <a:solidFill>
                  <a:srgbClr val="9A3412"/>
                </a:solidFill>
                <a:latin typeface="Calibri" pitchFamily="34" charset="0"/>
                <a:ea typeface="Calibri" pitchFamily="34" charset="-122"/>
                <a:cs typeface="Calibri" pitchFamily="34" charset="-120"/>
              </a:rPr>
              <a:t>ML price prediction model training + production tuning</a:t>
            </a:r>
            <a:endParaRPr lang="en-US" sz="2800" dirty="0"/>
          </a:p>
          <a:p>
            <a:pPr marL="228600" indent="-228600">
              <a:buSzPct val="100000"/>
              <a:buChar char="•"/>
            </a:pPr>
            <a:r>
              <a:rPr lang="en-US" sz="2800" dirty="0">
                <a:solidFill>
                  <a:srgbClr val="9A3412"/>
                </a:solidFill>
                <a:latin typeface="Calibri" pitchFamily="34" charset="0"/>
                <a:ea typeface="Calibri" pitchFamily="34" charset="-122"/>
                <a:cs typeface="Calibri" pitchFamily="34" charset="-120"/>
              </a:rPr>
              <a:t>Razorpay payment success/failure full testing cycle</a:t>
            </a:r>
            <a:endParaRPr lang="en-US" sz="2800" dirty="0"/>
          </a:p>
          <a:p>
            <a:pPr marL="228600" indent="-228600">
              <a:buSzPct val="100000"/>
              <a:buChar char="•"/>
            </a:pPr>
            <a:r>
              <a:rPr lang="en-US" sz="2800" dirty="0">
                <a:solidFill>
                  <a:srgbClr val="9A3412"/>
                </a:solidFill>
                <a:latin typeface="Calibri" pitchFamily="34" charset="0"/>
                <a:ea typeface="Calibri" pitchFamily="34" charset="-122"/>
                <a:cs typeface="Calibri" pitchFamily="34" charset="-120"/>
              </a:rPr>
              <a:t>Agreement and utility modules final integration</a:t>
            </a:r>
            <a:endParaRPr lang="en-US" sz="2800" dirty="0"/>
          </a:p>
          <a:p>
            <a:pPr marL="228600" indent="-228600">
              <a:buSzPct val="100000"/>
              <a:buChar char="•"/>
            </a:pPr>
            <a:r>
              <a:rPr lang="en-US" sz="2800" dirty="0">
                <a:solidFill>
                  <a:srgbClr val="9A3412"/>
                </a:solidFill>
                <a:latin typeface="Calibri" pitchFamily="34" charset="0"/>
                <a:ea typeface="Calibri" pitchFamily="34" charset="-122"/>
                <a:cs typeface="Calibri" pitchFamily="34" charset="-120"/>
              </a:rPr>
              <a:t>End-to-end QA testing and deployment hardening</a:t>
            </a:r>
            <a:endParaRPr lang="en-US" sz="1600" dirty="0"/>
          </a:p>
        </p:txBody>
      </p:sp>
      <p:sp>
        <p:nvSpPr>
          <p:cNvPr id="8" name="Text 6"/>
          <p:cNvSpPr/>
          <p:nvPr/>
        </p:nvSpPr>
        <p:spPr>
          <a:xfrm>
            <a:off x="914400" y="5989320"/>
            <a:ext cx="10241280" cy="228600"/>
          </a:xfrm>
          <a:prstGeom prst="rect">
            <a:avLst/>
          </a:prstGeom>
          <a:noFill/>
          <a:ln/>
        </p:spPr>
        <p:txBody>
          <a:bodyPr wrap="square" rtlCol="0" anchor="ctr"/>
          <a:lstStyle/>
          <a:p>
            <a:pPr marL="0" indent="0">
              <a:buNone/>
            </a:pPr>
            <a:r>
              <a:rPr lang="en-US" sz="1200" b="1" dirty="0">
                <a:solidFill>
                  <a:srgbClr val="7C2D12"/>
                </a:solidFill>
                <a:latin typeface="Calibri" pitchFamily="34" charset="0"/>
                <a:ea typeface="Calibri" pitchFamily="34" charset="-122"/>
                <a:cs typeface="Calibri" pitchFamily="34" charset="-120"/>
              </a:rPr>
              <a:t>Current completion estimate: ~55% (project is still under development).</a:t>
            </a:r>
            <a:endParaRPr lang="en-US" sz="1200" dirty="0"/>
          </a:p>
        </p:txBody>
      </p:sp>
      <p:sp>
        <p:nvSpPr>
          <p:cNvPr id="9" name="Shape 7"/>
          <p:cNvSpPr/>
          <p:nvPr/>
        </p:nvSpPr>
        <p:spPr>
          <a:xfrm>
            <a:off x="9692640" y="6309360"/>
            <a:ext cx="2148840" cy="320040"/>
          </a:xfrm>
          <a:prstGeom prst="roundRect">
            <a:avLst/>
          </a:prstGeom>
          <a:solidFill>
            <a:srgbClr val="D97706"/>
          </a:solidFill>
          <a:ln w="12700">
            <a:solidFill>
              <a:srgbClr val="D97706"/>
            </a:solidFill>
            <a:prstDash val="solid"/>
          </a:ln>
        </p:spPr>
        <p:txBody>
          <a:bodyPr/>
          <a:lstStyle/>
          <a:p>
            <a:endParaRPr lang="en-IN"/>
          </a:p>
        </p:txBody>
      </p:sp>
      <p:sp>
        <p:nvSpPr>
          <p:cNvPr id="10" name="Text 8"/>
          <p:cNvSpPr/>
          <p:nvPr/>
        </p:nvSpPr>
        <p:spPr>
          <a:xfrm>
            <a:off x="9692640" y="6364224"/>
            <a:ext cx="2148840" cy="1828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Halfly Done Work</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0B2545"/>
          </a:solidFill>
          <a:ln w="12700">
            <a:solidFill>
              <a:srgbClr val="0B2545"/>
            </a:solidFill>
            <a:prstDash val="solid"/>
          </a:ln>
        </p:spPr>
        <p:txBody>
          <a:bodyPr/>
          <a:lstStyle/>
          <a:p>
            <a:endParaRPr lang="en-IN"/>
          </a:p>
        </p:txBody>
      </p:sp>
      <p:sp>
        <p:nvSpPr>
          <p:cNvPr id="3" name="Text 1"/>
          <p:cNvSpPr/>
          <p:nvPr/>
        </p:nvSpPr>
        <p:spPr>
          <a:xfrm>
            <a:off x="411480" y="164592"/>
            <a:ext cx="8046720" cy="32918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Current Build Snapshot</a:t>
            </a:r>
            <a:endParaRPr lang="en-US" sz="2100" dirty="0"/>
          </a:p>
        </p:txBody>
      </p:sp>
      <p:sp>
        <p:nvSpPr>
          <p:cNvPr id="4" name="Text 2"/>
          <p:cNvSpPr/>
          <p:nvPr/>
        </p:nvSpPr>
        <p:spPr>
          <a:xfrm>
            <a:off x="8412480" y="182880"/>
            <a:ext cx="3383280" cy="274320"/>
          </a:xfrm>
          <a:prstGeom prst="rect">
            <a:avLst/>
          </a:prstGeom>
          <a:noFill/>
          <a:ln/>
        </p:spPr>
        <p:txBody>
          <a:bodyPr wrap="square" rtlCol="0" anchor="ctr"/>
          <a:lstStyle/>
          <a:p>
            <a:pPr marL="0" indent="0" algn="r">
              <a:buNone/>
            </a:pPr>
            <a:r>
              <a:rPr lang="en-US" sz="1100" i="1" dirty="0">
                <a:solidFill>
                  <a:srgbClr val="C7D2FE"/>
                </a:solidFill>
                <a:latin typeface="Calibri" pitchFamily="34" charset="0"/>
                <a:ea typeface="Calibri" pitchFamily="34" charset="-122"/>
                <a:cs typeface="Calibri" pitchFamily="34" charset="-120"/>
              </a:rPr>
              <a:t>What is connected right now</a:t>
            </a:r>
            <a:endParaRPr lang="en-US" sz="1100" dirty="0"/>
          </a:p>
        </p:txBody>
      </p:sp>
      <p:sp>
        <p:nvSpPr>
          <p:cNvPr id="5" name="Shape 3"/>
          <p:cNvSpPr/>
          <p:nvPr/>
        </p:nvSpPr>
        <p:spPr>
          <a:xfrm>
            <a:off x="0" y="713232"/>
            <a:ext cx="12188952" cy="0"/>
          </a:xfrm>
          <a:prstGeom prst="line">
            <a:avLst/>
          </a:prstGeom>
          <a:noFill/>
          <a:ln w="12700">
            <a:solidFill>
              <a:srgbClr val="0B6E6E"/>
            </a:solidFill>
            <a:prstDash val="solid"/>
          </a:ln>
        </p:spPr>
        <p:txBody>
          <a:bodyPr/>
          <a:lstStyle/>
          <a:p>
            <a:endParaRPr lang="en-IN"/>
          </a:p>
        </p:txBody>
      </p:sp>
      <p:sp>
        <p:nvSpPr>
          <p:cNvPr id="6" name="Shape 4"/>
          <p:cNvSpPr/>
          <p:nvPr/>
        </p:nvSpPr>
        <p:spPr>
          <a:xfrm>
            <a:off x="457200" y="1234440"/>
            <a:ext cx="3291840" cy="1828800"/>
          </a:xfrm>
          <a:prstGeom prst="roundRect">
            <a:avLst/>
          </a:prstGeom>
          <a:solidFill>
            <a:srgbClr val="DBEAFE"/>
          </a:solidFill>
          <a:ln w="12700">
            <a:solidFill>
              <a:srgbClr val="93C5FD"/>
            </a:solidFill>
            <a:prstDash val="solid"/>
          </a:ln>
        </p:spPr>
        <p:txBody>
          <a:bodyPr/>
          <a:lstStyle/>
          <a:p>
            <a:endParaRPr lang="en-IN" dirty="0"/>
          </a:p>
        </p:txBody>
      </p:sp>
      <p:sp>
        <p:nvSpPr>
          <p:cNvPr id="7" name="Text 5"/>
          <p:cNvSpPr/>
          <p:nvPr/>
        </p:nvSpPr>
        <p:spPr>
          <a:xfrm>
            <a:off x="411480" y="1734253"/>
            <a:ext cx="3291840" cy="914400"/>
          </a:xfrm>
          <a:prstGeom prst="rect">
            <a:avLst/>
          </a:prstGeom>
          <a:noFill/>
          <a:ln/>
        </p:spPr>
        <p:txBody>
          <a:bodyPr wrap="square" rtlCol="0" anchor="ctr"/>
          <a:lstStyle/>
          <a:p>
            <a:pPr marL="0" indent="0" algn="ctr">
              <a:buNone/>
            </a:pPr>
            <a:r>
              <a:rPr lang="en-US" sz="1800" b="1" dirty="0">
                <a:solidFill>
                  <a:srgbClr val="1E3A8A"/>
                </a:solidFill>
                <a:latin typeface="Calibri" pitchFamily="34" charset="0"/>
                <a:ea typeface="Calibri" pitchFamily="34" charset="-122"/>
                <a:cs typeface="Calibri" pitchFamily="34" charset="-120"/>
              </a:rPr>
              <a:t>Frontend</a:t>
            </a:r>
            <a:endParaRPr lang="en-US" sz="1800" dirty="0"/>
          </a:p>
          <a:p>
            <a:pPr marL="0" indent="0" algn="ctr">
              <a:buNone/>
            </a:pPr>
            <a:r>
              <a:rPr lang="en-US" sz="1800" b="1" dirty="0">
                <a:solidFill>
                  <a:srgbClr val="1E3A8A"/>
                </a:solidFill>
                <a:latin typeface="Calibri" pitchFamily="34" charset="0"/>
                <a:ea typeface="Calibri" pitchFamily="34" charset="-122"/>
                <a:cs typeface="Calibri" pitchFamily="34" charset="-120"/>
              </a:rPr>
              <a:t>React + Vite</a:t>
            </a:r>
            <a:endParaRPr lang="en-US" sz="1800" dirty="0"/>
          </a:p>
        </p:txBody>
      </p:sp>
      <p:sp>
        <p:nvSpPr>
          <p:cNvPr id="8" name="Shape 6"/>
          <p:cNvSpPr/>
          <p:nvPr/>
        </p:nvSpPr>
        <p:spPr>
          <a:xfrm>
            <a:off x="4434840" y="1234440"/>
            <a:ext cx="3291840" cy="1828800"/>
          </a:xfrm>
          <a:prstGeom prst="roundRect">
            <a:avLst/>
          </a:prstGeom>
          <a:solidFill>
            <a:srgbClr val="DCFCE7"/>
          </a:solidFill>
          <a:ln w="12700">
            <a:solidFill>
              <a:srgbClr val="86EFAC"/>
            </a:solidFill>
            <a:prstDash val="solid"/>
          </a:ln>
        </p:spPr>
        <p:txBody>
          <a:bodyPr/>
          <a:lstStyle/>
          <a:p>
            <a:endParaRPr lang="en-IN"/>
          </a:p>
        </p:txBody>
      </p:sp>
      <p:sp>
        <p:nvSpPr>
          <p:cNvPr id="9" name="Text 7"/>
          <p:cNvSpPr/>
          <p:nvPr/>
        </p:nvSpPr>
        <p:spPr>
          <a:xfrm>
            <a:off x="4434840" y="1783080"/>
            <a:ext cx="3291840" cy="914400"/>
          </a:xfrm>
          <a:prstGeom prst="rect">
            <a:avLst/>
          </a:prstGeom>
          <a:noFill/>
          <a:ln/>
        </p:spPr>
        <p:txBody>
          <a:bodyPr wrap="square" rtlCol="0" anchor="ctr"/>
          <a:lstStyle/>
          <a:p>
            <a:pPr marL="0" indent="0" algn="ctr">
              <a:buNone/>
            </a:pPr>
            <a:r>
              <a:rPr lang="en-US" sz="1800" b="1" dirty="0">
                <a:solidFill>
                  <a:srgbClr val="14532D"/>
                </a:solidFill>
                <a:latin typeface="Calibri" pitchFamily="34" charset="0"/>
                <a:ea typeface="Calibri" pitchFamily="34" charset="-122"/>
                <a:cs typeface="Calibri" pitchFamily="34" charset="-120"/>
              </a:rPr>
              <a:t>Backend</a:t>
            </a:r>
            <a:endParaRPr lang="en-US" sz="1800" dirty="0"/>
          </a:p>
          <a:p>
            <a:pPr marL="0" indent="0" algn="ctr">
              <a:buNone/>
            </a:pPr>
            <a:r>
              <a:rPr lang="en-US" sz="1800" b="1" dirty="0">
                <a:solidFill>
                  <a:srgbClr val="14532D"/>
                </a:solidFill>
                <a:latin typeface="Calibri" pitchFamily="34" charset="0"/>
                <a:ea typeface="Calibri" pitchFamily="34" charset="-122"/>
                <a:cs typeface="Calibri" pitchFamily="34" charset="-120"/>
              </a:rPr>
              <a:t>Node + Express</a:t>
            </a:r>
            <a:endParaRPr lang="en-US" sz="1800" dirty="0"/>
          </a:p>
        </p:txBody>
      </p:sp>
      <p:sp>
        <p:nvSpPr>
          <p:cNvPr id="10" name="Shape 8"/>
          <p:cNvSpPr/>
          <p:nvPr/>
        </p:nvSpPr>
        <p:spPr>
          <a:xfrm>
            <a:off x="8183880" y="1234440"/>
            <a:ext cx="3291840" cy="1828800"/>
          </a:xfrm>
          <a:prstGeom prst="roundRect">
            <a:avLst/>
          </a:prstGeom>
          <a:solidFill>
            <a:srgbClr val="F3E8FF"/>
          </a:solidFill>
          <a:ln w="12700">
            <a:solidFill>
              <a:srgbClr val="D8B4FE"/>
            </a:solidFill>
            <a:prstDash val="solid"/>
          </a:ln>
        </p:spPr>
        <p:txBody>
          <a:bodyPr/>
          <a:lstStyle/>
          <a:p>
            <a:endParaRPr lang="en-IN" dirty="0"/>
          </a:p>
        </p:txBody>
      </p:sp>
      <p:sp>
        <p:nvSpPr>
          <p:cNvPr id="11" name="Text 9"/>
          <p:cNvSpPr/>
          <p:nvPr/>
        </p:nvSpPr>
        <p:spPr>
          <a:xfrm>
            <a:off x="8183880" y="1783080"/>
            <a:ext cx="3291840" cy="914400"/>
          </a:xfrm>
          <a:prstGeom prst="rect">
            <a:avLst/>
          </a:prstGeom>
          <a:noFill/>
          <a:ln/>
        </p:spPr>
        <p:txBody>
          <a:bodyPr wrap="square" rtlCol="0" anchor="ctr"/>
          <a:lstStyle/>
          <a:p>
            <a:pPr marL="0" indent="0" algn="ctr">
              <a:buNone/>
            </a:pPr>
            <a:r>
              <a:rPr lang="en-US" sz="1800" b="1" dirty="0">
                <a:solidFill>
                  <a:srgbClr val="6B21A8"/>
                </a:solidFill>
                <a:latin typeface="Calibri" pitchFamily="34" charset="0"/>
                <a:ea typeface="Calibri" pitchFamily="34" charset="-122"/>
                <a:cs typeface="Calibri" pitchFamily="34" charset="-120"/>
              </a:rPr>
              <a:t>Database +</a:t>
            </a:r>
            <a:endParaRPr lang="en-US" sz="1800" dirty="0"/>
          </a:p>
          <a:p>
            <a:pPr marL="0" indent="0" algn="ctr">
              <a:buNone/>
            </a:pPr>
            <a:r>
              <a:rPr lang="en-US" sz="1800" b="1" dirty="0">
                <a:solidFill>
                  <a:srgbClr val="6B21A8"/>
                </a:solidFill>
                <a:latin typeface="Calibri" pitchFamily="34" charset="0"/>
                <a:ea typeface="Calibri" pitchFamily="34" charset="-122"/>
                <a:cs typeface="Calibri" pitchFamily="34" charset="-120"/>
              </a:rPr>
              <a:t>MongoDB </a:t>
            </a:r>
            <a:endParaRPr lang="en-US" sz="1800" dirty="0"/>
          </a:p>
        </p:txBody>
      </p:sp>
      <p:sp>
        <p:nvSpPr>
          <p:cNvPr id="12" name="Shape 10"/>
          <p:cNvSpPr/>
          <p:nvPr/>
        </p:nvSpPr>
        <p:spPr>
          <a:xfrm>
            <a:off x="3794760" y="1920240"/>
            <a:ext cx="640080" cy="457200"/>
          </a:xfrm>
          <a:prstGeom prst="chevron">
            <a:avLst/>
          </a:prstGeom>
          <a:solidFill>
            <a:srgbClr val="64748B"/>
          </a:solidFill>
          <a:ln w="12700">
            <a:solidFill>
              <a:srgbClr val="64748B"/>
            </a:solidFill>
            <a:prstDash val="solid"/>
          </a:ln>
        </p:spPr>
        <p:txBody>
          <a:bodyPr/>
          <a:lstStyle/>
          <a:p>
            <a:endParaRPr lang="en-IN" dirty="0"/>
          </a:p>
        </p:txBody>
      </p:sp>
      <p:sp>
        <p:nvSpPr>
          <p:cNvPr id="13" name="Shape 11"/>
          <p:cNvSpPr/>
          <p:nvPr/>
        </p:nvSpPr>
        <p:spPr>
          <a:xfrm>
            <a:off x="7680960" y="1920240"/>
            <a:ext cx="640080" cy="457200"/>
          </a:xfrm>
          <a:prstGeom prst="chevron">
            <a:avLst/>
          </a:prstGeom>
          <a:solidFill>
            <a:srgbClr val="64748B"/>
          </a:solidFill>
          <a:ln w="12700">
            <a:solidFill>
              <a:srgbClr val="64748B"/>
            </a:solidFill>
            <a:prstDash val="solid"/>
          </a:ln>
        </p:spPr>
        <p:txBody>
          <a:bodyPr/>
          <a:lstStyle/>
          <a:p>
            <a:endParaRPr lang="en-IN"/>
          </a:p>
        </p:txBody>
      </p:sp>
      <p:sp>
        <p:nvSpPr>
          <p:cNvPr id="14" name="Shape 12"/>
          <p:cNvSpPr/>
          <p:nvPr/>
        </p:nvSpPr>
        <p:spPr>
          <a:xfrm>
            <a:off x="685800" y="3657600"/>
            <a:ext cx="10789920" cy="2286000"/>
          </a:xfrm>
          <a:prstGeom prst="roundRect">
            <a:avLst/>
          </a:prstGeom>
          <a:solidFill>
            <a:srgbClr val="FEF2F2"/>
          </a:solidFill>
          <a:ln w="12700">
            <a:solidFill>
              <a:srgbClr val="FCA5A5"/>
            </a:solidFill>
            <a:prstDash val="solid"/>
          </a:ln>
        </p:spPr>
        <p:txBody>
          <a:bodyPr/>
          <a:lstStyle/>
          <a:p>
            <a:endParaRPr lang="en-IN"/>
          </a:p>
        </p:txBody>
      </p:sp>
      <p:sp>
        <p:nvSpPr>
          <p:cNvPr id="15" name="Text 13"/>
          <p:cNvSpPr/>
          <p:nvPr/>
        </p:nvSpPr>
        <p:spPr>
          <a:xfrm>
            <a:off x="1005840" y="3977640"/>
            <a:ext cx="10058400" cy="1645920"/>
          </a:xfrm>
          <a:prstGeom prst="rect">
            <a:avLst/>
          </a:prstGeom>
          <a:noFill/>
          <a:ln/>
        </p:spPr>
        <p:txBody>
          <a:bodyPr wrap="square" rtlCol="0" anchor="ctr"/>
          <a:lstStyle/>
          <a:p>
            <a:pPr marL="215900" indent="-215900">
              <a:buSzPct val="100000"/>
              <a:buChar char="•"/>
            </a:pPr>
            <a:r>
              <a:rPr lang="en-US" sz="2400" dirty="0">
                <a:solidFill>
                  <a:srgbClr val="7F1D1D"/>
                </a:solidFill>
                <a:latin typeface="Calibri" pitchFamily="34" charset="0"/>
                <a:ea typeface="Calibri" pitchFamily="34" charset="-122"/>
                <a:cs typeface="Calibri" pitchFamily="34" charset="-120"/>
              </a:rPr>
              <a:t>Core data flow is functional for major pages.</a:t>
            </a:r>
            <a:endParaRPr lang="en-US" sz="2400" dirty="0"/>
          </a:p>
          <a:p>
            <a:pPr marL="215900" indent="-215900">
              <a:buSzPct val="100000"/>
              <a:buChar char="•"/>
            </a:pPr>
            <a:r>
              <a:rPr lang="en-US" sz="2400" dirty="0">
                <a:solidFill>
                  <a:srgbClr val="7F1D1D"/>
                </a:solidFill>
                <a:latin typeface="Calibri" pitchFamily="34" charset="0"/>
                <a:ea typeface="Calibri" pitchFamily="34" charset="-122"/>
                <a:cs typeface="Calibri" pitchFamily="34" charset="-120"/>
              </a:rPr>
              <a:t>Remaining effort is on integration quality, testing, and deployment.</a:t>
            </a:r>
            <a:endParaRPr lang="en-US" sz="2400" dirty="0"/>
          </a:p>
          <a:p>
            <a:pPr marL="215900" indent="-215900">
              <a:buSzPct val="100000"/>
              <a:buChar char="•"/>
            </a:pPr>
            <a:r>
              <a:rPr lang="en-US" sz="2400" dirty="0">
                <a:solidFill>
                  <a:srgbClr val="7F1D1D"/>
                </a:solidFill>
                <a:latin typeface="Calibri" pitchFamily="34" charset="0"/>
                <a:ea typeface="Calibri" pitchFamily="34" charset="-122"/>
                <a:cs typeface="Calibri" pitchFamily="34" charset="-120"/>
              </a:rPr>
              <a:t>Some modules are connected but not fully production-ready.</a:t>
            </a:r>
            <a:endParaRPr lang="en-US" sz="2400" dirty="0"/>
          </a:p>
        </p:txBody>
      </p:sp>
      <p:sp>
        <p:nvSpPr>
          <p:cNvPr id="16" name="Shape 14"/>
          <p:cNvSpPr/>
          <p:nvPr/>
        </p:nvSpPr>
        <p:spPr>
          <a:xfrm>
            <a:off x="9692640" y="6309360"/>
            <a:ext cx="2148840" cy="320040"/>
          </a:xfrm>
          <a:prstGeom prst="roundRect">
            <a:avLst/>
          </a:prstGeom>
          <a:solidFill>
            <a:srgbClr val="D97706"/>
          </a:solidFill>
          <a:ln w="12700">
            <a:solidFill>
              <a:srgbClr val="D97706"/>
            </a:solidFill>
            <a:prstDash val="solid"/>
          </a:ln>
        </p:spPr>
        <p:txBody>
          <a:bodyPr/>
          <a:lstStyle/>
          <a:p>
            <a:endParaRPr lang="en-IN"/>
          </a:p>
        </p:txBody>
      </p:sp>
      <p:sp>
        <p:nvSpPr>
          <p:cNvPr id="17" name="Text 15"/>
          <p:cNvSpPr/>
          <p:nvPr/>
        </p:nvSpPr>
        <p:spPr>
          <a:xfrm>
            <a:off x="9692640" y="6364224"/>
            <a:ext cx="2148840" cy="1828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System in Build Phase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0B2545"/>
          </a:solidFill>
          <a:ln w="12700">
            <a:solidFill>
              <a:srgbClr val="0B2545"/>
            </a:solidFill>
            <a:prstDash val="solid"/>
          </a:ln>
        </p:spPr>
        <p:txBody>
          <a:bodyPr/>
          <a:lstStyle/>
          <a:p>
            <a:endParaRPr lang="en-IN"/>
          </a:p>
        </p:txBody>
      </p:sp>
      <p:sp>
        <p:nvSpPr>
          <p:cNvPr id="3" name="Text 1"/>
          <p:cNvSpPr/>
          <p:nvPr/>
        </p:nvSpPr>
        <p:spPr>
          <a:xfrm>
            <a:off x="411480" y="164592"/>
            <a:ext cx="8046720" cy="32918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Challenges Faced During 12 Weeks</a:t>
            </a:r>
            <a:endParaRPr lang="en-US" sz="2100" dirty="0"/>
          </a:p>
        </p:txBody>
      </p:sp>
      <p:sp>
        <p:nvSpPr>
          <p:cNvPr id="4" name="Text 2"/>
          <p:cNvSpPr/>
          <p:nvPr/>
        </p:nvSpPr>
        <p:spPr>
          <a:xfrm>
            <a:off x="8412480" y="182880"/>
            <a:ext cx="3383280" cy="274320"/>
          </a:xfrm>
          <a:prstGeom prst="rect">
            <a:avLst/>
          </a:prstGeom>
          <a:noFill/>
          <a:ln/>
        </p:spPr>
        <p:txBody>
          <a:bodyPr wrap="square" rtlCol="0" anchor="ctr"/>
          <a:lstStyle/>
          <a:p>
            <a:pPr marL="0" indent="0" algn="r">
              <a:buNone/>
            </a:pPr>
            <a:r>
              <a:rPr lang="en-US" sz="1100" i="1" dirty="0">
                <a:solidFill>
                  <a:srgbClr val="C7D2FE"/>
                </a:solidFill>
                <a:latin typeface="Calibri" pitchFamily="34" charset="0"/>
                <a:ea typeface="Calibri" pitchFamily="34" charset="-122"/>
                <a:cs typeface="Calibri" pitchFamily="34" charset="-120"/>
              </a:rPr>
              <a:t>Learning to engineering transition</a:t>
            </a:r>
            <a:endParaRPr lang="en-US" sz="1100" dirty="0"/>
          </a:p>
        </p:txBody>
      </p:sp>
      <p:sp>
        <p:nvSpPr>
          <p:cNvPr id="5" name="Shape 3"/>
          <p:cNvSpPr/>
          <p:nvPr/>
        </p:nvSpPr>
        <p:spPr>
          <a:xfrm>
            <a:off x="0" y="713232"/>
            <a:ext cx="12188952" cy="0"/>
          </a:xfrm>
          <a:prstGeom prst="line">
            <a:avLst/>
          </a:prstGeom>
          <a:noFill/>
          <a:ln w="12700">
            <a:solidFill>
              <a:srgbClr val="0B6E6E"/>
            </a:solidFill>
            <a:prstDash val="solid"/>
          </a:ln>
        </p:spPr>
        <p:txBody>
          <a:bodyPr/>
          <a:lstStyle/>
          <a:p>
            <a:endParaRPr lang="en-IN"/>
          </a:p>
        </p:txBody>
      </p:sp>
      <p:sp>
        <p:nvSpPr>
          <p:cNvPr id="6" name="Text 4"/>
          <p:cNvSpPr/>
          <p:nvPr/>
        </p:nvSpPr>
        <p:spPr>
          <a:xfrm>
            <a:off x="868680" y="1325880"/>
            <a:ext cx="10789920" cy="4389120"/>
          </a:xfrm>
          <a:prstGeom prst="rect">
            <a:avLst/>
          </a:prstGeom>
          <a:noFill/>
          <a:ln/>
        </p:spPr>
        <p:txBody>
          <a:bodyPr wrap="square" rtlCol="0" anchor="ctr"/>
          <a:lstStyle/>
          <a:p>
            <a:pPr marL="241300" indent="-241300">
              <a:buSzPct val="100000"/>
              <a:buChar char="•"/>
            </a:pPr>
            <a:r>
              <a:rPr lang="en-US" sz="2800" dirty="0">
                <a:solidFill>
                  <a:srgbClr val="1F2937"/>
                </a:solidFill>
                <a:latin typeface="Calibri" pitchFamily="34" charset="0"/>
                <a:ea typeface="Calibri" pitchFamily="34" charset="-122"/>
                <a:cs typeface="Calibri" pitchFamily="34" charset="-120"/>
              </a:rPr>
              <a:t>Balancing technology learning with parallel module implementation.</a:t>
            </a:r>
            <a:endParaRPr lang="en-US" sz="2800" dirty="0"/>
          </a:p>
          <a:p>
            <a:pPr marL="241300" indent="-241300">
              <a:buSzPct val="100000"/>
              <a:buChar char="•"/>
            </a:pPr>
            <a:r>
              <a:rPr lang="en-US" sz="2800" dirty="0">
                <a:solidFill>
                  <a:srgbClr val="1F2937"/>
                </a:solidFill>
                <a:latin typeface="Calibri" pitchFamily="34" charset="0"/>
                <a:ea typeface="Calibri" pitchFamily="34" charset="-122"/>
                <a:cs typeface="Calibri" pitchFamily="34" charset="-120"/>
              </a:rPr>
              <a:t>Managing role-based complexity across frontend and backend routes.</a:t>
            </a:r>
            <a:endParaRPr lang="en-US" sz="2800" dirty="0"/>
          </a:p>
          <a:p>
            <a:pPr marL="241300" indent="-241300">
              <a:buSzPct val="100000"/>
              <a:buChar char="•"/>
            </a:pPr>
            <a:r>
              <a:rPr lang="en-US" sz="2800" dirty="0">
                <a:solidFill>
                  <a:srgbClr val="1F2937"/>
                </a:solidFill>
                <a:latin typeface="Calibri" pitchFamily="34" charset="0"/>
                <a:ea typeface="Calibri" pitchFamily="34" charset="-122"/>
                <a:cs typeface="Calibri" pitchFamily="34" charset="-120"/>
              </a:rPr>
              <a:t>Coordinating API contract changes while UI pages were under active build.</a:t>
            </a:r>
            <a:endParaRPr lang="en-US" sz="2800" dirty="0"/>
          </a:p>
          <a:p>
            <a:pPr marL="241300" indent="-241300">
              <a:buSzPct val="100000"/>
              <a:buChar char="•"/>
            </a:pPr>
            <a:r>
              <a:rPr lang="en-US" sz="2800" dirty="0">
                <a:solidFill>
                  <a:srgbClr val="1F2937"/>
                </a:solidFill>
                <a:latin typeface="Calibri" pitchFamily="34" charset="0"/>
                <a:ea typeface="Calibri" pitchFamily="34" charset="-122"/>
                <a:cs typeface="Calibri" pitchFamily="34" charset="-120"/>
              </a:rPr>
              <a:t>Integrating ML and payment modules with stable error handling.</a:t>
            </a:r>
            <a:endParaRPr lang="en-US" sz="2800" dirty="0"/>
          </a:p>
          <a:p>
            <a:pPr marL="241300" indent="-241300">
              <a:buSzPct val="100000"/>
              <a:buChar char="•"/>
            </a:pPr>
            <a:r>
              <a:rPr lang="en-US" sz="2800" dirty="0">
                <a:solidFill>
                  <a:srgbClr val="1F2937"/>
                </a:solidFill>
                <a:latin typeface="Calibri" pitchFamily="34" charset="0"/>
                <a:ea typeface="Calibri" pitchFamily="34" charset="-122"/>
                <a:cs typeface="Calibri" pitchFamily="34" charset="-120"/>
              </a:rPr>
              <a:t>Performing complete end-to-end testing within limited academic timeline.</a:t>
            </a:r>
            <a:endParaRPr lang="en-US" sz="2800" dirty="0"/>
          </a:p>
        </p:txBody>
      </p:sp>
      <p:sp>
        <p:nvSpPr>
          <p:cNvPr id="7" name="Shape 5"/>
          <p:cNvSpPr/>
          <p:nvPr/>
        </p:nvSpPr>
        <p:spPr>
          <a:xfrm>
            <a:off x="1005840" y="5285232"/>
            <a:ext cx="10789920" cy="868680"/>
          </a:xfrm>
          <a:prstGeom prst="roundRect">
            <a:avLst/>
          </a:prstGeom>
          <a:solidFill>
            <a:srgbClr val="EFF6FF"/>
          </a:solidFill>
          <a:ln w="12700">
            <a:solidFill>
              <a:srgbClr val="BFDBFE"/>
            </a:solidFill>
            <a:prstDash val="solid"/>
          </a:ln>
        </p:spPr>
        <p:txBody>
          <a:bodyPr/>
          <a:lstStyle/>
          <a:p>
            <a:endParaRPr lang="en-IN" sz="2400" dirty="0"/>
          </a:p>
        </p:txBody>
      </p:sp>
      <p:sp>
        <p:nvSpPr>
          <p:cNvPr id="8" name="Text 6"/>
          <p:cNvSpPr/>
          <p:nvPr/>
        </p:nvSpPr>
        <p:spPr>
          <a:xfrm>
            <a:off x="1097280" y="5577840"/>
            <a:ext cx="10332720" cy="320040"/>
          </a:xfrm>
          <a:prstGeom prst="rect">
            <a:avLst/>
          </a:prstGeom>
          <a:noFill/>
          <a:ln/>
        </p:spPr>
        <p:txBody>
          <a:bodyPr wrap="square" rtlCol="0" anchor="ctr"/>
          <a:lstStyle/>
          <a:p>
            <a:pPr marL="0" indent="0" algn="ctr">
              <a:buNone/>
            </a:pPr>
            <a:r>
              <a:rPr lang="en-US" sz="1600" b="1" dirty="0">
                <a:solidFill>
                  <a:srgbClr val="1D4ED8"/>
                </a:solidFill>
                <a:latin typeface="Calibri" pitchFamily="34" charset="0"/>
                <a:ea typeface="Calibri" pitchFamily="34" charset="-122"/>
                <a:cs typeface="Calibri" pitchFamily="34" charset="-120"/>
              </a:rPr>
              <a:t>Outcome: Team gained strong full-stack understanding, and project is steadily progressing toward completion</a:t>
            </a:r>
            <a:r>
              <a:rPr lang="en-US" sz="1300" b="1" dirty="0">
                <a:solidFill>
                  <a:srgbClr val="1D4ED8"/>
                </a:solidFill>
                <a:latin typeface="Calibri" pitchFamily="34" charset="0"/>
                <a:ea typeface="Calibri" pitchFamily="34" charset="-122"/>
                <a:cs typeface="Calibri" pitchFamily="34" charset="-120"/>
              </a:rPr>
              <a:t>.</a:t>
            </a:r>
            <a:endParaRPr lang="en-US" sz="1300" dirty="0"/>
          </a:p>
        </p:txBody>
      </p:sp>
      <p:sp>
        <p:nvSpPr>
          <p:cNvPr id="9" name="Shape 7"/>
          <p:cNvSpPr/>
          <p:nvPr/>
        </p:nvSpPr>
        <p:spPr>
          <a:xfrm>
            <a:off x="9646920" y="6327647"/>
            <a:ext cx="2148840" cy="320040"/>
          </a:xfrm>
          <a:prstGeom prst="roundRect">
            <a:avLst/>
          </a:prstGeom>
          <a:solidFill>
            <a:srgbClr val="0B6E6E"/>
          </a:solidFill>
          <a:ln w="12700">
            <a:solidFill>
              <a:srgbClr val="0B6E6E"/>
            </a:solidFill>
            <a:prstDash val="solid"/>
          </a:ln>
        </p:spPr>
        <p:txBody>
          <a:bodyPr/>
          <a:lstStyle/>
          <a:p>
            <a:endParaRPr lang="en-IN"/>
          </a:p>
        </p:txBody>
      </p:sp>
      <p:sp>
        <p:nvSpPr>
          <p:cNvPr id="10" name="Text 8"/>
          <p:cNvSpPr/>
          <p:nvPr/>
        </p:nvSpPr>
        <p:spPr>
          <a:xfrm>
            <a:off x="9692640" y="6364224"/>
            <a:ext cx="2148840" cy="1828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Resolved Incrementally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713232"/>
          </a:xfrm>
          <a:prstGeom prst="rect">
            <a:avLst/>
          </a:prstGeom>
          <a:solidFill>
            <a:srgbClr val="0B2545"/>
          </a:solidFill>
          <a:ln w="12700">
            <a:solidFill>
              <a:srgbClr val="0B2545"/>
            </a:solidFill>
            <a:prstDash val="solid"/>
          </a:ln>
        </p:spPr>
        <p:txBody>
          <a:bodyPr/>
          <a:lstStyle/>
          <a:p>
            <a:endParaRPr lang="en-IN"/>
          </a:p>
        </p:txBody>
      </p:sp>
      <p:sp>
        <p:nvSpPr>
          <p:cNvPr id="3" name="Text 1"/>
          <p:cNvSpPr/>
          <p:nvPr/>
        </p:nvSpPr>
        <p:spPr>
          <a:xfrm>
            <a:off x="411480" y="164592"/>
            <a:ext cx="8046720" cy="32918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Next Development Plan</a:t>
            </a:r>
            <a:endParaRPr lang="en-US" sz="2100" dirty="0"/>
          </a:p>
        </p:txBody>
      </p:sp>
      <p:sp>
        <p:nvSpPr>
          <p:cNvPr id="4" name="Text 2"/>
          <p:cNvSpPr/>
          <p:nvPr/>
        </p:nvSpPr>
        <p:spPr>
          <a:xfrm>
            <a:off x="8412480" y="182880"/>
            <a:ext cx="3383280" cy="274320"/>
          </a:xfrm>
          <a:prstGeom prst="rect">
            <a:avLst/>
          </a:prstGeom>
          <a:noFill/>
          <a:ln/>
        </p:spPr>
        <p:txBody>
          <a:bodyPr wrap="square" rtlCol="0" anchor="ctr"/>
          <a:lstStyle/>
          <a:p>
            <a:pPr marL="0" indent="0" algn="r">
              <a:buNone/>
            </a:pPr>
            <a:r>
              <a:rPr lang="en-US" sz="1100" i="1" dirty="0">
                <a:solidFill>
                  <a:srgbClr val="C7D2FE"/>
                </a:solidFill>
                <a:latin typeface="Calibri" pitchFamily="34" charset="0"/>
                <a:ea typeface="Calibri" pitchFamily="34" charset="-122"/>
                <a:cs typeface="Calibri" pitchFamily="34" charset="-120"/>
              </a:rPr>
              <a:t>Post Week-12 roadmap</a:t>
            </a:r>
            <a:endParaRPr lang="en-US" sz="1100" dirty="0"/>
          </a:p>
        </p:txBody>
      </p:sp>
      <p:sp>
        <p:nvSpPr>
          <p:cNvPr id="5" name="Shape 3"/>
          <p:cNvSpPr/>
          <p:nvPr/>
        </p:nvSpPr>
        <p:spPr>
          <a:xfrm>
            <a:off x="0" y="713232"/>
            <a:ext cx="12188952" cy="0"/>
          </a:xfrm>
          <a:prstGeom prst="line">
            <a:avLst/>
          </a:prstGeom>
          <a:noFill/>
          <a:ln w="12700">
            <a:solidFill>
              <a:srgbClr val="0B6E6E"/>
            </a:solidFill>
            <a:prstDash val="solid"/>
          </a:ln>
        </p:spPr>
        <p:txBody>
          <a:bodyPr/>
          <a:lstStyle/>
          <a:p>
            <a:endParaRPr lang="en-IN"/>
          </a:p>
        </p:txBody>
      </p:sp>
      <p:graphicFrame>
        <p:nvGraphicFramePr>
          <p:cNvPr id="14" name="Table 0"/>
          <p:cNvGraphicFramePr>
            <a:graphicFrameLocks noGrp="1"/>
          </p:cNvGraphicFramePr>
          <p:nvPr>
            <p:extLst>
              <p:ext uri="{D42A27DB-BD31-4B8C-83A1-F6EECF244321}">
                <p14:modId xmlns:p14="http://schemas.microsoft.com/office/powerpoint/2010/main" val="1737345029"/>
              </p:ext>
            </p:extLst>
          </p:nvPr>
        </p:nvGraphicFramePr>
        <p:xfrm>
          <a:off x="731520" y="1371600"/>
          <a:ext cx="10789920" cy="4206240"/>
        </p:xfrm>
        <a:graphic>
          <a:graphicData uri="http://schemas.openxmlformats.org/drawingml/2006/table">
            <a:tbl>
              <a:tblPr/>
              <a:tblGrid>
                <a:gridCol w="44805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5486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Priority</a:t>
                      </a:r>
                      <a:endParaRPr lang="en-US" sz="14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Expected Output</a:t>
                      </a:r>
                      <a:endParaRPr lang="en-US" sz="14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914400">
                <a:tc>
                  <a:txBody>
                    <a:bodyPr/>
                    <a:lstStyle/>
                    <a:p>
                      <a:pPr marL="0" indent="0">
                        <a:buNone/>
                      </a:pPr>
                      <a:r>
                        <a:rPr lang="en-US" sz="2400" dirty="0">
                          <a:solidFill>
                            <a:srgbClr val="1F2937"/>
                          </a:solidFill>
                          <a:latin typeface="Calibri" pitchFamily="34" charset="0"/>
                          <a:ea typeface="Calibri" pitchFamily="34" charset="-122"/>
                          <a:cs typeface="Calibri" pitchFamily="34" charset="-120"/>
                        </a:rPr>
                        <a:t>Complete pending integration</a:t>
                      </a:r>
                      <a:endParaRPr lang="en-US" sz="24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400" dirty="0">
                          <a:solidFill>
                            <a:srgbClr val="1F2937"/>
                          </a:solidFill>
                          <a:latin typeface="Calibri" pitchFamily="34" charset="0"/>
                          <a:ea typeface="Calibri" pitchFamily="34" charset="-122"/>
                          <a:cs typeface="Calibri" pitchFamily="34" charset="-120"/>
                        </a:rPr>
                        <a:t>High</a:t>
                      </a:r>
                      <a:endParaRPr lang="en-US" sz="24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400" dirty="0">
                          <a:solidFill>
                            <a:srgbClr val="1F2937"/>
                          </a:solidFill>
                          <a:latin typeface="Calibri" pitchFamily="34" charset="0"/>
                          <a:ea typeface="Calibri" pitchFamily="34" charset="-122"/>
                          <a:cs typeface="Calibri" pitchFamily="34" charset="-120"/>
                        </a:rPr>
                        <a:t>Stable and connected all modules</a:t>
                      </a:r>
                      <a:endParaRPr lang="en-US" sz="24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buNone/>
                      </a:pPr>
                      <a:r>
                        <a:rPr lang="en-US" sz="2400" dirty="0">
                          <a:solidFill>
                            <a:srgbClr val="1F2937"/>
                          </a:solidFill>
                          <a:latin typeface="Calibri" pitchFamily="34" charset="0"/>
                          <a:ea typeface="Calibri" pitchFamily="34" charset="-122"/>
                          <a:cs typeface="Calibri" pitchFamily="34" charset="-120"/>
                        </a:rPr>
                        <a:t>Finalize ML and payment flows</a:t>
                      </a:r>
                      <a:endParaRPr lang="en-US" sz="24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400" dirty="0">
                          <a:solidFill>
                            <a:srgbClr val="1F2937"/>
                          </a:solidFill>
                          <a:latin typeface="Calibri" pitchFamily="34" charset="0"/>
                          <a:ea typeface="Calibri" pitchFamily="34" charset="-122"/>
                          <a:cs typeface="Calibri" pitchFamily="34" charset="-120"/>
                        </a:rPr>
                        <a:t>High</a:t>
                      </a:r>
                      <a:endParaRPr lang="en-US" sz="24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400" dirty="0">
                          <a:solidFill>
                            <a:srgbClr val="1F2937"/>
                          </a:solidFill>
                          <a:latin typeface="Calibri" pitchFamily="34" charset="0"/>
                          <a:ea typeface="Calibri" pitchFamily="34" charset="-122"/>
                          <a:cs typeface="Calibri" pitchFamily="34" charset="-120"/>
                        </a:rPr>
                        <a:t>Reliable advanced feature support</a:t>
                      </a:r>
                      <a:endParaRPr lang="en-US" sz="24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buNone/>
                      </a:pPr>
                      <a:r>
                        <a:rPr lang="en-US" sz="2400" dirty="0">
                          <a:solidFill>
                            <a:srgbClr val="1F2937"/>
                          </a:solidFill>
                          <a:latin typeface="Calibri" pitchFamily="34" charset="0"/>
                          <a:ea typeface="Calibri" pitchFamily="34" charset="-122"/>
                          <a:cs typeface="Calibri" pitchFamily="34" charset="-120"/>
                        </a:rPr>
                        <a:t>Comprehensive testing</a:t>
                      </a:r>
                      <a:endParaRPr lang="en-US" sz="24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400" dirty="0">
                          <a:solidFill>
                            <a:srgbClr val="1F2937"/>
                          </a:solidFill>
                          <a:latin typeface="Calibri" pitchFamily="34" charset="0"/>
                          <a:ea typeface="Calibri" pitchFamily="34" charset="-122"/>
                          <a:cs typeface="Calibri" pitchFamily="34" charset="-120"/>
                        </a:rPr>
                        <a:t>High</a:t>
                      </a:r>
                      <a:endParaRPr lang="en-US" sz="24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400" dirty="0">
                          <a:solidFill>
                            <a:srgbClr val="1F2937"/>
                          </a:solidFill>
                          <a:latin typeface="Calibri" pitchFamily="34" charset="0"/>
                          <a:ea typeface="Calibri" pitchFamily="34" charset="-122"/>
                          <a:cs typeface="Calibri" pitchFamily="34" charset="-120"/>
                        </a:rPr>
                        <a:t>Bug-reduced release candidate</a:t>
                      </a:r>
                      <a:endParaRPr lang="en-US" sz="24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marL="0" indent="0">
                        <a:buNone/>
                      </a:pPr>
                      <a:r>
                        <a:rPr lang="en-US" sz="2400" dirty="0">
                          <a:solidFill>
                            <a:srgbClr val="1F2937"/>
                          </a:solidFill>
                          <a:latin typeface="Calibri" pitchFamily="34" charset="0"/>
                          <a:ea typeface="Calibri" pitchFamily="34" charset="-122"/>
                          <a:cs typeface="Calibri" pitchFamily="34" charset="-120"/>
                        </a:rPr>
                        <a:t>Deployment and final review</a:t>
                      </a:r>
                      <a:endParaRPr lang="en-US" sz="24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400" dirty="0">
                          <a:solidFill>
                            <a:srgbClr val="1F2937"/>
                          </a:solidFill>
                          <a:latin typeface="Calibri" pitchFamily="34" charset="0"/>
                          <a:ea typeface="Calibri" pitchFamily="34" charset="-122"/>
                          <a:cs typeface="Calibri" pitchFamily="34" charset="-120"/>
                        </a:rPr>
                        <a:t>Medium</a:t>
                      </a:r>
                      <a:endParaRPr lang="en-US" sz="24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2400" dirty="0">
                          <a:solidFill>
                            <a:srgbClr val="1F2937"/>
                          </a:solidFill>
                          <a:latin typeface="Calibri" pitchFamily="34" charset="0"/>
                          <a:ea typeface="Calibri" pitchFamily="34" charset="-122"/>
                          <a:cs typeface="Calibri" pitchFamily="34" charset="-120"/>
                        </a:rPr>
                        <a:t>Submission-ready final system</a:t>
                      </a:r>
                      <a:endParaRPr lang="en-US" sz="2400" dirty="0">
                        <a:latin typeface="Calibri" charset="0"/>
                        <a:ea typeface="Calibri" charset="0"/>
                        <a:cs typeface="Calibri" charset="0"/>
                      </a:endParaRPr>
                    </a:p>
                  </a:txBody>
                  <a:tcP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4"/>
          <p:cNvSpPr/>
          <p:nvPr/>
        </p:nvSpPr>
        <p:spPr>
          <a:xfrm>
            <a:off x="731520" y="1371600"/>
            <a:ext cx="10789920" cy="548640"/>
          </a:xfrm>
          <a:prstGeom prst="rect">
            <a:avLst/>
          </a:prstGeom>
          <a:solidFill>
            <a:srgbClr val="134074"/>
          </a:solidFill>
          <a:ln w="12700">
            <a:solidFill>
              <a:srgbClr val="134074"/>
            </a:solidFill>
            <a:prstDash val="solid"/>
          </a:ln>
        </p:spPr>
        <p:txBody>
          <a:bodyPr/>
          <a:lstStyle/>
          <a:p>
            <a:endParaRPr lang="en-IN"/>
          </a:p>
        </p:txBody>
      </p:sp>
      <p:sp>
        <p:nvSpPr>
          <p:cNvPr id="8" name="Shape 5"/>
          <p:cNvSpPr/>
          <p:nvPr/>
        </p:nvSpPr>
        <p:spPr>
          <a:xfrm>
            <a:off x="9692640" y="6309360"/>
            <a:ext cx="2148840" cy="320040"/>
          </a:xfrm>
          <a:prstGeom prst="roundRect">
            <a:avLst/>
          </a:prstGeom>
          <a:solidFill>
            <a:srgbClr val="0B6E6E"/>
          </a:solidFill>
          <a:ln w="12700">
            <a:solidFill>
              <a:srgbClr val="0B6E6E"/>
            </a:solidFill>
            <a:prstDash val="solid"/>
          </a:ln>
        </p:spPr>
        <p:txBody>
          <a:bodyPr/>
          <a:lstStyle/>
          <a:p>
            <a:endParaRPr lang="en-IN"/>
          </a:p>
        </p:txBody>
      </p:sp>
      <p:sp>
        <p:nvSpPr>
          <p:cNvPr id="9" name="Text 6"/>
          <p:cNvSpPr/>
          <p:nvPr/>
        </p:nvSpPr>
        <p:spPr>
          <a:xfrm>
            <a:off x="9692640" y="6364224"/>
            <a:ext cx="2148840" cy="1828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Planned Completion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731520" y="1097280"/>
            <a:ext cx="10789920" cy="640080"/>
          </a:xfrm>
          <a:prstGeom prst="rect">
            <a:avLst/>
          </a:prstGeom>
          <a:noFill/>
          <a:ln/>
        </p:spPr>
        <p:txBody>
          <a:bodyPr wrap="square" rtlCol="0" anchor="ctr"/>
          <a:lstStyle/>
          <a:p>
            <a:pPr marL="0" indent="0" algn="ctr">
              <a:buNone/>
            </a:pPr>
            <a:r>
              <a:rPr lang="en-US" sz="4200" b="1" dirty="0">
                <a:solidFill>
                  <a:srgbClr val="BFDBFE"/>
                </a:solidFill>
                <a:latin typeface="Calibri" pitchFamily="34" charset="0"/>
                <a:ea typeface="Calibri" pitchFamily="34" charset="-122"/>
                <a:cs typeface="Calibri" pitchFamily="34" charset="-120"/>
              </a:rPr>
              <a:t>Conclusion</a:t>
            </a:r>
            <a:endParaRPr lang="en-US" sz="4200" dirty="0"/>
          </a:p>
        </p:txBody>
      </p:sp>
      <p:sp>
        <p:nvSpPr>
          <p:cNvPr id="3" name="Text 1"/>
          <p:cNvSpPr/>
          <p:nvPr/>
        </p:nvSpPr>
        <p:spPr>
          <a:xfrm>
            <a:off x="1234440" y="2011680"/>
            <a:ext cx="9692640" cy="3566160"/>
          </a:xfrm>
          <a:prstGeom prst="rect">
            <a:avLst/>
          </a:prstGeom>
          <a:noFill/>
          <a:ln/>
        </p:spPr>
        <p:txBody>
          <a:bodyPr wrap="square" rtlCol="0" anchor="ctr"/>
          <a:lstStyle/>
          <a:p>
            <a:pPr marL="0" indent="0" algn="ctr">
              <a:buNone/>
            </a:pPr>
            <a:r>
              <a:rPr lang="en-US" sz="1900" dirty="0">
                <a:solidFill>
                  <a:srgbClr val="FFFFFF"/>
                </a:solidFill>
                <a:latin typeface="Calibri" pitchFamily="34" charset="0"/>
                <a:ea typeface="Calibri" pitchFamily="34" charset="-122"/>
                <a:cs typeface="Calibri" pitchFamily="34" charset="-120"/>
              </a:rPr>
              <a:t>Urban-Stay project has achieved major foundational milestones over 12 weeks.</a:t>
            </a:r>
            <a:endParaRPr lang="en-US" sz="1900" dirty="0"/>
          </a:p>
          <a:p>
            <a:pPr marL="0" indent="0" algn="ctr">
              <a:buNone/>
            </a:pPr>
            <a:endParaRPr lang="en-US" sz="1900" dirty="0"/>
          </a:p>
          <a:p>
            <a:pPr marL="0" indent="0" algn="ctr">
              <a:buNone/>
            </a:pPr>
            <a:r>
              <a:rPr lang="en-US" sz="1900" dirty="0">
                <a:solidFill>
                  <a:srgbClr val="FFFFFF"/>
                </a:solidFill>
                <a:latin typeface="Calibri" pitchFamily="34" charset="0"/>
                <a:ea typeface="Calibri" pitchFamily="34" charset="-122"/>
                <a:cs typeface="Calibri" pitchFamily="34" charset="-120"/>
              </a:rPr>
              <a:t>Weeks 1-3 were used for project technology learning and a mini project.</a:t>
            </a:r>
            <a:endParaRPr lang="en-US" sz="1900" dirty="0"/>
          </a:p>
          <a:p>
            <a:pPr marL="0" indent="0" algn="ctr">
              <a:buNone/>
            </a:pPr>
            <a:r>
              <a:rPr lang="en-US" sz="1900" dirty="0">
                <a:solidFill>
                  <a:srgbClr val="FFFFFF"/>
                </a:solidFill>
                <a:latin typeface="Calibri" pitchFamily="34" charset="0"/>
                <a:ea typeface="Calibri" pitchFamily="34" charset="-122"/>
                <a:cs typeface="Calibri" pitchFamily="34" charset="-120"/>
              </a:rPr>
              <a:t>From Week 4 onward, core modules were developed and partially integrated.</a:t>
            </a:r>
            <a:endParaRPr lang="en-US" sz="1900" dirty="0"/>
          </a:p>
          <a:p>
            <a:pPr marL="0" indent="0" algn="ctr">
              <a:buNone/>
            </a:pPr>
            <a:endParaRPr lang="en-US" sz="1900" dirty="0"/>
          </a:p>
          <a:p>
            <a:pPr marL="0" indent="0" algn="ctr">
              <a:buNone/>
            </a:pPr>
            <a:r>
              <a:rPr lang="en-US" sz="1900" dirty="0">
                <a:solidFill>
                  <a:srgbClr val="FFFFFF"/>
                </a:solidFill>
                <a:latin typeface="Calibri" pitchFamily="34" charset="0"/>
                <a:ea typeface="Calibri" pitchFamily="34" charset="-122"/>
                <a:cs typeface="Calibri" pitchFamily="34" charset="-120"/>
              </a:rPr>
              <a:t>Current status: Project is under construction with halfly done modules clearly identified.</a:t>
            </a:r>
            <a:endParaRPr lang="en-US" sz="1900" dirty="0"/>
          </a:p>
          <a:p>
            <a:pPr marL="0" indent="0" algn="ctr">
              <a:buNone/>
            </a:pPr>
            <a:endParaRPr lang="en-US" sz="1900" dirty="0"/>
          </a:p>
          <a:p>
            <a:pPr marL="0" indent="0" algn="ctr">
              <a:buNone/>
            </a:pPr>
            <a:r>
              <a:rPr lang="en-US" sz="1900" dirty="0">
                <a:solidFill>
                  <a:srgbClr val="FFFFFF"/>
                </a:solidFill>
                <a:latin typeface="Calibri" pitchFamily="34" charset="0"/>
                <a:ea typeface="Calibri" pitchFamily="34" charset="-122"/>
                <a:cs typeface="Calibri" pitchFamily="34" charset="-120"/>
              </a:rPr>
              <a:t>Thank You</a:t>
            </a:r>
            <a:endParaRPr lang="en-US" sz="1900" dirty="0"/>
          </a:p>
        </p:txBody>
      </p:sp>
      <p:sp>
        <p:nvSpPr>
          <p:cNvPr id="5" name="Text 3"/>
          <p:cNvSpPr/>
          <p:nvPr/>
        </p:nvSpPr>
        <p:spPr>
          <a:xfrm>
            <a:off x="4233844" y="5852160"/>
            <a:ext cx="5212080" cy="228600"/>
          </a:xfrm>
          <a:prstGeom prst="rect">
            <a:avLst/>
          </a:prstGeom>
          <a:noFill/>
          <a:ln/>
        </p:spPr>
        <p:txBody>
          <a:bodyPr wrap="square" rtlCol="0" anchor="ctr"/>
          <a:lstStyle/>
          <a:p>
            <a:pPr marL="0" indent="0" algn="ctr">
              <a:buNone/>
            </a:pP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894</Words>
  <Application>Microsoft Office PowerPoint</Application>
  <PresentationFormat>Widescreen</PresentationFormat>
  <Paragraphs>178</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College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Urban-Stay Weekly Progress (12 Weeks)</dc:title>
  <dc:subject>Urban-Stay weekly progress presentation</dc:subject>
  <dc:creator>Urban-Stay Team</dc:creator>
  <cp:lastModifiedBy>Harsh Rathod</cp:lastModifiedBy>
  <cp:revision>2</cp:revision>
  <dcterms:created xsi:type="dcterms:W3CDTF">2026-04-17T18:29:11Z</dcterms:created>
  <dcterms:modified xsi:type="dcterms:W3CDTF">2026-04-17T18:46:34Z</dcterms:modified>
</cp:coreProperties>
</file>