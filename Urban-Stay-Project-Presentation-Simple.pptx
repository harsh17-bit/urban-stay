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image" Target="../media/image-20-9.png"/><Relationship Id="rId10" Type="http://schemas.openxmlformats.org/officeDocument/2006/relationships/image" Target="../media/image-2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914400"/>
            <a:ext cx="10835640" cy="4892040"/>
          </a:xfrm>
          <a:prstGeom prst="roundRect">
            <a:avLst>
              <a:gd name="adj" fmla="val 1495"/>
            </a:avLst>
          </a:prstGeom>
          <a:solidFill>
            <a:srgbClr val="133B5C">
              <a:alpha val="93000"/>
            </a:srgbClr>
          </a:solidFill>
          <a:ln w="12700">
            <a:solidFill>
              <a:srgbClr val="2A70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417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F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51560" y="2148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Platform Project Presentation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51560" y="26791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property discovery, listing, inquiry, and dashboard workflow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1037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 |  Node.js + Express  |  MongoDB  |  JWT  |  Cloudinary  |  Razorpay  |  Leaflet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1732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19367" y="3896807"/>
            <a:ext cx="362834" cy="3628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5272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887" y="3896807"/>
            <a:ext cx="362834" cy="3628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2724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6636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8407" y="3896807"/>
            <a:ext cx="362834" cy="3628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0176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04088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2927" y="3896807"/>
            <a:ext cx="362834" cy="3628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7628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915400" y="3794760"/>
            <a:ext cx="566928" cy="566928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17447" y="3896807"/>
            <a:ext cx="362834" cy="3628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50808" y="4443984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051560" y="510235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academic presentation layout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 Project Overview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133856"/>
            <a:ext cx="1078992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133856"/>
            <a:ext cx="109728" cy="48006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29844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6828" y="1377452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280160"/>
            <a:ext cx="9948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Flow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1810512"/>
            <a:ext cx="10479024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2" name="Shape 9"/>
          <p:cNvSpPr/>
          <p:nvPr/>
        </p:nvSpPr>
        <p:spPr>
          <a:xfrm>
            <a:off x="1097280" y="160020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164592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755648" y="161848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097280" y="21031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214884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755648" y="212140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Objectives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097280" y="260604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265176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755648" y="262432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Activities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097280" y="310896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315468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755648" y="312724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97280" y="36118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97280" y="365760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755648" y="363016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097280" y="411480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97280" y="416052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755648" y="413308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1097280" y="46177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97280" y="466344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755648" y="463600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RBAC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6446520" y="160020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6520" y="164592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104888" y="161848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Workflow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6446520" y="21031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46520" y="214884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104888" y="212140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Intelligence and AI Price Match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446520" y="260604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46520" y="265176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104888" y="262432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and Architecture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446520" y="310896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46520" y="315468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104888" y="312724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and Status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6446520" y="36118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46520" y="365760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104888" y="363016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Learnings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6446520" y="411480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46520" y="416052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104888" y="413308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Matrix and Conclusion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6446520" y="461772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46520" y="4663440"/>
            <a:ext cx="502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7104888" y="463600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Delivery and Thank You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8961120" y="5440680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961120" y="5477256"/>
            <a:ext cx="19933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 - 14 Section Report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Urban Stay was built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70432"/>
            <a:ext cx="64008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70432"/>
            <a:ext cx="109728" cy="5074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116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8176" y="1316736"/>
            <a:ext cx="5559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Urban Stay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32688" y="1847088"/>
            <a:ext cx="6089904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 is a full-stack real estate platform built to make property discovery and listing management simpler, faster, and more transparent. The project combines user-facing search tools with seller and admin workflows so every role can interact with the same property ecosystem in a structured way.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scattered listings and manual follow-up, the platform centralizes property posting, filtering, inquiry handling, verification, reviews, alerts, and dashboard-based control. That gives buyers a cleaner search experience and gives sellers and admins a reliable operational view.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7360920" y="1170432"/>
            <a:ext cx="40690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60920" y="1170432"/>
            <a:ext cx="109728" cy="2103120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255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4516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37576" y="1316736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Solved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562088" y="1847088"/>
            <a:ext cx="3758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Fragmented property discovery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Slow inquiry follow-up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Poor listing quality control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role-aware workflow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7360920" y="3456432"/>
            <a:ext cx="406908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60920" y="3456432"/>
            <a:ext cx="109728" cy="27889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525512" y="3621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4516" y="370002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37576" y="3602736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562088" y="4133088"/>
            <a:ext cx="375818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Public search and detail pages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Seller posting and editing flow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Admin verification and feature control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Saved alerts, reviews, and inquiries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price match and utility tools</a:t>
            </a:r>
            <a:endParaRPr lang="en-US" sz="1210" dirty="0"/>
          </a:p>
        </p:txBody>
      </p:sp>
      <p:sp>
        <p:nvSpPr>
          <p:cNvPr id="24" name="Shape 1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Project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objective, and value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170432"/>
            <a:ext cx="362102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170432"/>
            <a:ext cx="10972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6828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316736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847088"/>
            <a:ext cx="3310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single digital platform for property browsing, listing, inquiry handling, and platform-level control.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79392" y="1170432"/>
            <a:ext cx="362102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79392" y="1170432"/>
            <a:ext cx="109728" cy="1828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43984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2988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56048" y="1316736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80560" y="1847088"/>
            <a:ext cx="3310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seller, and admin roles with different access levels and dashboards.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845552" y="1170432"/>
            <a:ext cx="362102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45552" y="1170432"/>
            <a:ext cx="109728" cy="1828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10144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9148" y="141402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22208" y="1316736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046720" y="1847088"/>
            <a:ext cx="3310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project that demonstrates a practical end-to-end real estate workflow.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13232" y="3200400"/>
            <a:ext cx="52578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13232" y="3200400"/>
            <a:ext cx="109728" cy="2743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77824" y="336499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6828" y="3443996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89888" y="3346704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14400" y="3877056"/>
            <a:ext cx="4946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Build secure login, register, and password recovery flows.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Support property listing creation, edits, and image uploads.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Allow search, filter, and detailed property exploration.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Provide inquiry, review, alert, and dashboard workflows.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245352" y="3200400"/>
            <a:ext cx="52578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245352" y="3200400"/>
            <a:ext cx="109728" cy="2743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409944" y="336499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88948" y="3443996"/>
            <a:ext cx="280904" cy="280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922008" y="3346704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6446520" y="3877056"/>
            <a:ext cx="4946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Reduces manual coordination between buyers and sellers.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Improves listing transparency and verification.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Makes the platform easier to operate for admins.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Shows a complete full-stack product architecture.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Activities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was built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15568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27101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16736" y="1225296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planning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1664208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page structure, component layout, and responsive home sections.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91072" y="1115568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9944" y="12435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127101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1225296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9944" y="1664208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register, login, forgot password, reset password, and session restoration.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2542032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2670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9748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16736" y="2651760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modules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3090672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listing pages, property details, search filters, and seller posting flow.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91072" y="2542032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9944" y="2670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269748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651760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9944" y="3090672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user, seller, and admin dashboards with route-based access control.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" y="3968496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096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123944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16736" y="4078224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8680" y="4517136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Cloudinary, Razorpay, Leaflet, and the ML price match service.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91072" y="3968496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9944" y="4096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4123944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4078224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polishing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9944" y="4517136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validation, error handling, and deployment readiness across modules.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15400" y="5715000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15400" y="5751576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full-stack delivery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objectives, and workflow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170432"/>
            <a:ext cx="36576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170432"/>
            <a:ext cx="109728" cy="2103120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6828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316736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847088"/>
            <a:ext cx="33467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search is often fragmented, with inconsistent listing quality, delayed responses, and weak control over verified content. Buyers need a cleaner way to discover properties, while sellers and admins need structured workflows to manage listings and inquiries.</a:t>
            </a:r>
            <a:endParaRPr lang="en-US" sz="1210" dirty="0"/>
          </a:p>
        </p:txBody>
      </p:sp>
      <p:sp>
        <p:nvSpPr>
          <p:cNvPr id="12" name="Shape 9"/>
          <p:cNvSpPr/>
          <p:nvPr/>
        </p:nvSpPr>
        <p:spPr>
          <a:xfrm>
            <a:off x="4517136" y="1170432"/>
            <a:ext cx="3346704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17136" y="1170432"/>
            <a:ext cx="109728" cy="2103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81728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0732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93792" y="131673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718304" y="1847088"/>
            <a:ext cx="3035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Easy browsing and filtering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Verified listing management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Inquiry and review support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Saved alerts and role dashboards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8101584" y="1170432"/>
            <a:ext cx="3346704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01584" y="1170432"/>
            <a:ext cx="109728" cy="21031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66176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5180" y="141402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78240" y="131673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02752" y="1847088"/>
            <a:ext cx="3035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Web app for users, sellers, and admins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Frontend, backend, and ML integration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Local and cloud deployment ready</a:t>
            </a:r>
            <a:endParaRPr lang="en-US" sz="1180" dirty="0"/>
          </a:p>
        </p:txBody>
      </p:sp>
      <p:sp>
        <p:nvSpPr>
          <p:cNvPr id="24" name="Shape 19"/>
          <p:cNvSpPr/>
          <p:nvPr/>
        </p:nvSpPr>
        <p:spPr>
          <a:xfrm>
            <a:off x="749808" y="3584448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68680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68680" y="373989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316736" y="369417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868680" y="4133088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through JWT-based auth.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0" y="3584448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690872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690872" y="373989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138928" y="369417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/ Search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4690872" y="4133088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city, price, type, and listing mode.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8394192" y="3584448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513064" y="3712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513064" y="373989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961120" y="369417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Property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8513064" y="4133088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images, map, amenities, and details.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49808" y="4736592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68680" y="48646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68680" y="489204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1316736" y="48463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Inquiry</a:t>
            </a:r>
            <a:endParaRPr lang="en-US" sz="1250" dirty="0"/>
          </a:p>
        </p:txBody>
      </p:sp>
      <p:sp>
        <p:nvSpPr>
          <p:cNvPr id="43" name="Text 38"/>
          <p:cNvSpPr/>
          <p:nvPr/>
        </p:nvSpPr>
        <p:spPr>
          <a:xfrm>
            <a:off x="868680" y="5285232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request for the selected property.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572000" y="4736592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4690872" y="48646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690872" y="489204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5138928" y="48463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Reviews</a:t>
            </a:r>
            <a:endParaRPr lang="en-US" sz="1250" dirty="0"/>
          </a:p>
        </p:txBody>
      </p:sp>
      <p:sp>
        <p:nvSpPr>
          <p:cNvPr id="48" name="Text 43"/>
          <p:cNvSpPr/>
          <p:nvPr/>
        </p:nvSpPr>
        <p:spPr>
          <a:xfrm>
            <a:off x="4690872" y="5285232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or admin handles the inquiry and listing updates.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8394192" y="4736592"/>
            <a:ext cx="36118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8513064" y="48646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513064" y="489204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8961120" y="48463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Result</a:t>
            </a:r>
            <a:endParaRPr lang="en-US" sz="1250" dirty="0"/>
          </a:p>
        </p:txBody>
      </p:sp>
      <p:sp>
        <p:nvSpPr>
          <p:cNvPr id="53" name="Text 48"/>
          <p:cNvSpPr/>
          <p:nvPr/>
        </p:nvSpPr>
        <p:spPr>
          <a:xfrm>
            <a:off x="8513064" y="5285232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track status from dashboard and alerts.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Used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stack for Urban Stay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88720"/>
            <a:ext cx="3584448" cy="4846320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88720"/>
            <a:ext cx="109728" cy="4846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43231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35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65376"/>
            <a:ext cx="3273552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React 18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Vite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React Router v7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Tailwind CSS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Framer Motion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Axios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Zod validation</a:t>
            </a:r>
            <a:endParaRPr lang="en-US" sz="1210" dirty="0"/>
          </a:p>
        </p:txBody>
      </p:sp>
      <p:sp>
        <p:nvSpPr>
          <p:cNvPr id="12" name="Shape 9"/>
          <p:cNvSpPr/>
          <p:nvPr/>
        </p:nvSpPr>
        <p:spPr>
          <a:xfrm>
            <a:off x="4297680" y="1188720"/>
            <a:ext cx="3584448" cy="4846320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188720"/>
            <a:ext cx="109728" cy="4846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62272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1276" y="143231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74336" y="1335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Data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498848" y="1865376"/>
            <a:ext cx="3273552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Node.js and Express 5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MongoDB Atlas and Mongoose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JWT and bcryptjs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Nodemailer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Multer and Cloudinary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Razorpay integration</a:t>
            </a:r>
            <a:endParaRPr lang="en-US" sz="1210" dirty="0"/>
          </a:p>
        </p:txBody>
      </p:sp>
      <p:sp>
        <p:nvSpPr>
          <p:cNvPr id="18" name="Shape 14"/>
          <p:cNvSpPr/>
          <p:nvPr/>
        </p:nvSpPr>
        <p:spPr>
          <a:xfrm>
            <a:off x="7845552" y="1188720"/>
            <a:ext cx="3584448" cy="4846320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45552" y="1188720"/>
            <a:ext cx="109728" cy="4846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10144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9148" y="143231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22208" y="1335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and Utilities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046720" y="1865376"/>
            <a:ext cx="3273552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Leaflet and React Leaflet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price match service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API proxy route for ML service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Area converter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EMI calculator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Cookie consent banner</a:t>
            </a:r>
            <a:endParaRPr lang="en-US" sz="1210" dirty="0"/>
          </a:p>
        </p:txBody>
      </p:sp>
      <p:sp>
        <p:nvSpPr>
          <p:cNvPr id="24" name="Shape 1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Features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functions available in the platform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70432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70432"/>
            <a:ext cx="109728" cy="1243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116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8176" y="1316736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32688" y="1847088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login, registration, forgot/reset password, and session restoration.</a:t>
            </a:r>
            <a:endParaRPr lang="en-US" sz="1170" dirty="0"/>
          </a:p>
        </p:txBody>
      </p:sp>
      <p:sp>
        <p:nvSpPr>
          <p:cNvPr id="12" name="Shape 9"/>
          <p:cNvSpPr/>
          <p:nvPr/>
        </p:nvSpPr>
        <p:spPr>
          <a:xfrm>
            <a:off x="6327648" y="1170432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27648" y="1170432"/>
            <a:ext cx="109728" cy="12435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1244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04304" y="1316736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528816" y="1847088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featured and general listings with images, location, and specifications.</a:t>
            </a:r>
            <a:endParaRPr lang="en-US" sz="1170" dirty="0"/>
          </a:p>
        </p:txBody>
      </p:sp>
      <p:sp>
        <p:nvSpPr>
          <p:cNvPr id="18" name="Shape 14"/>
          <p:cNvSpPr/>
          <p:nvPr/>
        </p:nvSpPr>
        <p:spPr>
          <a:xfrm>
            <a:off x="731520" y="2651760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2651760"/>
            <a:ext cx="109728" cy="1243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96112" y="281635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116" y="289535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08176" y="2798064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932688" y="332841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and filter by price, city, type, and listing category.</a:t>
            </a:r>
            <a:endParaRPr lang="en-US" sz="1170" dirty="0"/>
          </a:p>
        </p:txBody>
      </p:sp>
      <p:sp>
        <p:nvSpPr>
          <p:cNvPr id="24" name="Shape 19"/>
          <p:cNvSpPr/>
          <p:nvPr/>
        </p:nvSpPr>
        <p:spPr>
          <a:xfrm>
            <a:off x="6327648" y="2651760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327648" y="2651760"/>
            <a:ext cx="109728" cy="12435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492240" y="281635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1244" y="2895356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04304" y="2798064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System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6528816" y="332841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requests to property owners and track inquiry status.</a:t>
            </a:r>
            <a:endParaRPr lang="en-US" sz="1170" dirty="0"/>
          </a:p>
        </p:txBody>
      </p:sp>
      <p:sp>
        <p:nvSpPr>
          <p:cNvPr id="30" name="Shape 24"/>
          <p:cNvSpPr/>
          <p:nvPr/>
        </p:nvSpPr>
        <p:spPr>
          <a:xfrm>
            <a:off x="731520" y="4133088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31520" y="4133088"/>
            <a:ext cx="109728" cy="124358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96112" y="429768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5116" y="4376684"/>
            <a:ext cx="280904" cy="280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08176" y="4279392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Ratings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932688" y="4809744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feedback through star ratings and comments.</a:t>
            </a:r>
            <a:endParaRPr lang="en-US" sz="1170" dirty="0"/>
          </a:p>
        </p:txBody>
      </p:sp>
      <p:sp>
        <p:nvSpPr>
          <p:cNvPr id="36" name="Shape 29"/>
          <p:cNvSpPr/>
          <p:nvPr/>
        </p:nvSpPr>
        <p:spPr>
          <a:xfrm>
            <a:off x="6327648" y="4133088"/>
            <a:ext cx="5120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327648" y="4133088"/>
            <a:ext cx="109728" cy="1243584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492240" y="429768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71244" y="4376684"/>
            <a:ext cx="280904" cy="28090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04304" y="4279392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Alerts</a:t>
            </a:r>
            <a:endParaRPr lang="en-US" sz="1450" dirty="0"/>
          </a:p>
        </p:txBody>
      </p:sp>
      <p:sp>
        <p:nvSpPr>
          <p:cNvPr id="41" name="Text 33"/>
          <p:cNvSpPr/>
          <p:nvPr/>
        </p:nvSpPr>
        <p:spPr>
          <a:xfrm>
            <a:off x="6528816" y="4809744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search conditions for future matching properties.</a:t>
            </a:r>
            <a:endParaRPr lang="en-US" sz="1170" dirty="0"/>
          </a:p>
        </p:txBody>
      </p:sp>
      <p:sp>
        <p:nvSpPr>
          <p:cNvPr id="42" name="Shape 3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Deep-Dive: User Authentication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role access control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70432"/>
            <a:ext cx="4617720" cy="489204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70432"/>
            <a:ext cx="109728" cy="4892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116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8176" y="1316736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32688" y="1847088"/>
            <a:ext cx="4306824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registers or logs in from the frontend.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Backend validates credentials and creates a JWT token.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Token and user data are stored in local storage for session persistence.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Protected routes redirect users according to their role.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Dashboard selection is based on user, seller, or admin access.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5532120" y="1170432"/>
            <a:ext cx="5925312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32120" y="1170432"/>
            <a:ext cx="109728" cy="4892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96712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5716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08776" y="1316736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Capabilities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733288" y="1847088"/>
            <a:ext cx="5614416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5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- Browse properties, save alerts, send inquiries, and leave reviews.</a:t>
            </a:r>
            <a:endParaRPr lang="en-US" sz="1215" dirty="0"/>
          </a:p>
          <a:p>
            <a:pPr indent="0" marL="0">
              <a:buNone/>
            </a:pPr>
            <a:endParaRPr lang="en-US" sz="1215" dirty="0"/>
          </a:p>
          <a:p>
            <a:pPr indent="0" marL="0">
              <a:buNone/>
            </a:pPr>
            <a:r>
              <a:rPr lang="en-US" sz="1215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- Post and edit properties, respond to inquiries, and manage own listings.</a:t>
            </a:r>
            <a:endParaRPr lang="en-US" sz="1215" dirty="0"/>
          </a:p>
          <a:p>
            <a:pPr indent="0" marL="0">
              <a:buNone/>
            </a:pPr>
            <a:endParaRPr lang="en-US" sz="1215" dirty="0"/>
          </a:p>
          <a:p>
            <a:pPr indent="0" marL="0">
              <a:buNone/>
            </a:pPr>
            <a:r>
              <a:rPr lang="en-US" sz="1215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- Verify listings, feature properties, view stats, and manage platform quality.</a:t>
            </a:r>
            <a:endParaRPr lang="en-US" sz="1215" dirty="0"/>
          </a:p>
        </p:txBody>
      </p:sp>
      <p:sp>
        <p:nvSpPr>
          <p:cNvPr id="18" name="Shape 14"/>
          <p:cNvSpPr/>
          <p:nvPr/>
        </p:nvSpPr>
        <p:spPr>
          <a:xfrm>
            <a:off x="9098280" y="5532120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098280" y="5568696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guarded in App.jsx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 Workflow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property posting and inquiry flow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3167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44168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98448" y="1298448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signs 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173736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or admin opens the post-property flow.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13167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344168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76288" y="1298448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details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28232" y="173736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price, type, location, amenities, and media are entered.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267712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2395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42316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98448" y="2377440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0392" y="2816352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processed through Cloudinary and stored securely.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267712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8232" y="23957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242316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2377440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or verify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28232" y="2816352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verify and feature the property.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3346704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" y="3474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3502152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98448" y="3456432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searches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50392" y="3895344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filters listings and opens the property page.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346704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8232" y="3474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3502152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76288" y="3456432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inquiry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28232" y="3895344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 request to the seller or admin.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4425696"/>
            <a:ext cx="52578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" y="4553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" y="4581144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98448" y="4535424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50392" y="4974336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appear in dashboards and alerts.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Deep-Dive: Search Intelligence and AI Price Match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discovery and backend-proxied ML support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52144"/>
            <a:ext cx="4709160" cy="49377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52144"/>
            <a:ext cx="109728" cy="4937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16736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395740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298448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Layer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28800"/>
            <a:ext cx="439826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Search by city, property type, and listing 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Filter by price, area, bedrooms, and bathrooms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Featured projects surface important listings 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Saved alerts help users revisit matching properties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Property cards and details show images, map, and amenities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87568" y="1152144"/>
            <a:ext cx="544068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87568" y="1152144"/>
            <a:ext cx="109728" cy="19385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0" y="1316736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1164" y="1395740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64224" y="1298448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 Match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888736" y="1828800"/>
            <a:ext cx="5129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price match section helps compare a listing with nearby market signals. The browser does not call the Flask service directly; requests are proxied through the backend using the ML service URL, which avoids browser CORS and mixed-content issues.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5687568" y="3273552"/>
            <a:ext cx="5440680" cy="2816352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87568" y="3273552"/>
            <a:ext cx="109728" cy="28163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852160" y="343814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1164" y="351714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4224" y="3419856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Outcome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888736" y="3950208"/>
            <a:ext cx="512978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Faster property comparison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Cleaner search experience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More relevant featured suggestions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Better price understanding before inquiry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Screens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pages and dashboard views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887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88720"/>
            <a:ext cx="109728" cy="17556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43231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30" dirty="0"/>
          </a:p>
        </p:txBody>
      </p:sp>
      <p:sp>
        <p:nvSpPr>
          <p:cNvPr id="11" name="Text 8"/>
          <p:cNvSpPr/>
          <p:nvPr/>
        </p:nvSpPr>
        <p:spPr>
          <a:xfrm>
            <a:off x="950976" y="18653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featured projects, tools, and testimonials.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3611880" y="11887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1188720"/>
            <a:ext cx="109728" cy="17556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76472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5476" y="143231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88536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Register</a:t>
            </a:r>
            <a:endParaRPr lang="en-US" sz="1330" dirty="0"/>
          </a:p>
        </p:txBody>
      </p:sp>
      <p:sp>
        <p:nvSpPr>
          <p:cNvPr id="17" name="Text 13"/>
          <p:cNvSpPr/>
          <p:nvPr/>
        </p:nvSpPr>
        <p:spPr>
          <a:xfrm>
            <a:off x="3813048" y="18653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password recovery pages.</a:t>
            </a:r>
            <a:endParaRPr lang="en-US" sz="1040" dirty="0"/>
          </a:p>
        </p:txBody>
      </p:sp>
      <p:sp>
        <p:nvSpPr>
          <p:cNvPr id="18" name="Shape 14"/>
          <p:cNvSpPr/>
          <p:nvPr/>
        </p:nvSpPr>
        <p:spPr>
          <a:xfrm>
            <a:off x="6473952" y="11887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73952" y="1188720"/>
            <a:ext cx="109728" cy="17556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638544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7548" y="143231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50608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</a:t>
            </a:r>
            <a:endParaRPr lang="en-US" sz="1330" dirty="0"/>
          </a:p>
        </p:txBody>
      </p:sp>
      <p:sp>
        <p:nvSpPr>
          <p:cNvPr id="23" name="Text 18"/>
          <p:cNvSpPr/>
          <p:nvPr/>
        </p:nvSpPr>
        <p:spPr>
          <a:xfrm>
            <a:off x="6675120" y="18653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grid with filters and query controls.</a:t>
            </a:r>
            <a:endParaRPr lang="en-US" sz="1040" dirty="0"/>
          </a:p>
        </p:txBody>
      </p:sp>
      <p:sp>
        <p:nvSpPr>
          <p:cNvPr id="24" name="Shape 19"/>
          <p:cNvSpPr/>
          <p:nvPr/>
        </p:nvSpPr>
        <p:spPr>
          <a:xfrm>
            <a:off x="9336024" y="11887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336024" y="1188720"/>
            <a:ext cx="109728" cy="17556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500616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79620" y="1432316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12680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Details</a:t>
            </a:r>
            <a:endParaRPr lang="en-US" sz="1330" dirty="0"/>
          </a:p>
        </p:txBody>
      </p:sp>
      <p:sp>
        <p:nvSpPr>
          <p:cNvPr id="29" name="Text 23"/>
          <p:cNvSpPr/>
          <p:nvPr/>
        </p:nvSpPr>
        <p:spPr>
          <a:xfrm>
            <a:off x="9537192" y="18653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Gallery, map, amenities, and inquiry controls.</a:t>
            </a:r>
            <a:endParaRPr lang="en-US" sz="1040" dirty="0"/>
          </a:p>
        </p:txBody>
      </p:sp>
      <p:sp>
        <p:nvSpPr>
          <p:cNvPr id="30" name="Shape 24"/>
          <p:cNvSpPr/>
          <p:nvPr/>
        </p:nvSpPr>
        <p:spPr>
          <a:xfrm>
            <a:off x="749808" y="32461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49808" y="3246120"/>
            <a:ext cx="109728" cy="17556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14400" y="34107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3404" y="3489716"/>
            <a:ext cx="280904" cy="280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26464" y="3392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330" dirty="0"/>
          </a:p>
        </p:txBody>
      </p:sp>
      <p:sp>
        <p:nvSpPr>
          <p:cNvPr id="35" name="Text 28"/>
          <p:cNvSpPr/>
          <p:nvPr/>
        </p:nvSpPr>
        <p:spPr>
          <a:xfrm>
            <a:off x="950976" y="39227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alerts, inquiries, and profile actions.</a:t>
            </a:r>
            <a:endParaRPr lang="en-US" sz="1040" dirty="0"/>
          </a:p>
        </p:txBody>
      </p:sp>
      <p:sp>
        <p:nvSpPr>
          <p:cNvPr id="36" name="Shape 29"/>
          <p:cNvSpPr/>
          <p:nvPr/>
        </p:nvSpPr>
        <p:spPr>
          <a:xfrm>
            <a:off x="3611880" y="32461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611880" y="3246120"/>
            <a:ext cx="109728" cy="17556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3776472" y="34107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55476" y="3489716"/>
            <a:ext cx="280904" cy="28090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288536" y="3392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Dashboard</a:t>
            </a:r>
            <a:endParaRPr lang="en-US" sz="1330" dirty="0"/>
          </a:p>
        </p:txBody>
      </p:sp>
      <p:sp>
        <p:nvSpPr>
          <p:cNvPr id="41" name="Text 33"/>
          <p:cNvSpPr/>
          <p:nvPr/>
        </p:nvSpPr>
        <p:spPr>
          <a:xfrm>
            <a:off x="3813048" y="39227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Post, edit, and manage property listings.</a:t>
            </a:r>
            <a:endParaRPr lang="en-US" sz="1040" dirty="0"/>
          </a:p>
        </p:txBody>
      </p:sp>
      <p:sp>
        <p:nvSpPr>
          <p:cNvPr id="42" name="Shape 34"/>
          <p:cNvSpPr/>
          <p:nvPr/>
        </p:nvSpPr>
        <p:spPr>
          <a:xfrm>
            <a:off x="6473952" y="32461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473952" y="3246120"/>
            <a:ext cx="109728" cy="17556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638544" y="34107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17548" y="3489716"/>
            <a:ext cx="280904" cy="28090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150608" y="3392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30" dirty="0"/>
          </a:p>
        </p:txBody>
      </p:sp>
      <p:sp>
        <p:nvSpPr>
          <p:cNvPr id="47" name="Text 38"/>
          <p:cNvSpPr/>
          <p:nvPr/>
        </p:nvSpPr>
        <p:spPr>
          <a:xfrm>
            <a:off x="6675120" y="39227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listings, feature properties, and view stats.</a:t>
            </a:r>
            <a:endParaRPr lang="en-US" sz="1040" dirty="0"/>
          </a:p>
        </p:txBody>
      </p:sp>
      <p:sp>
        <p:nvSpPr>
          <p:cNvPr id="48" name="Shape 39"/>
          <p:cNvSpPr/>
          <p:nvPr/>
        </p:nvSpPr>
        <p:spPr>
          <a:xfrm>
            <a:off x="9336024" y="3246120"/>
            <a:ext cx="2487168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9336024" y="3246120"/>
            <a:ext cx="109728" cy="1755648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9500616" y="34107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579620" y="3489716"/>
            <a:ext cx="280904" cy="280904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10012680" y="3392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Pages</a:t>
            </a:r>
            <a:endParaRPr lang="en-US" sz="1330" dirty="0"/>
          </a:p>
        </p:txBody>
      </p:sp>
      <p:sp>
        <p:nvSpPr>
          <p:cNvPr id="53" name="Text 43"/>
          <p:cNvSpPr/>
          <p:nvPr/>
        </p:nvSpPr>
        <p:spPr>
          <a:xfrm>
            <a:off x="9537192" y="3922776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calculator, area converter, and home interior pages.</a:t>
            </a:r>
            <a:endParaRPr lang="en-US" sz="1040" dirty="0"/>
          </a:p>
        </p:txBody>
      </p:sp>
      <p:sp>
        <p:nvSpPr>
          <p:cNvPr id="54" name="Shape 4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 for scalability and maintainability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133856"/>
            <a:ext cx="10378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133856"/>
            <a:ext cx="109728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" y="129844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276" y="1377452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45336" y="1280160"/>
            <a:ext cx="9537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1 - User Interface</a:t>
            </a:r>
            <a:endParaRPr lang="en-US" sz="1430" dirty="0"/>
          </a:p>
        </p:txBody>
      </p:sp>
      <p:sp>
        <p:nvSpPr>
          <p:cNvPr id="11" name="Text 8"/>
          <p:cNvSpPr/>
          <p:nvPr/>
        </p:nvSpPr>
        <p:spPr>
          <a:xfrm>
            <a:off x="1069848" y="1810512"/>
            <a:ext cx="10067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 and components: home, search, property details, dashboards, and utility pages.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68680" y="2231136"/>
            <a:ext cx="10378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2231136"/>
            <a:ext cx="109728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33272" y="239572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276" y="2474732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45336" y="2377440"/>
            <a:ext cx="9537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2 - State and Services</a:t>
            </a:r>
            <a:endParaRPr lang="en-US" sz="1430" dirty="0"/>
          </a:p>
        </p:txBody>
      </p:sp>
      <p:sp>
        <p:nvSpPr>
          <p:cNvPr id="17" name="Text 13"/>
          <p:cNvSpPr/>
          <p:nvPr/>
        </p:nvSpPr>
        <p:spPr>
          <a:xfrm>
            <a:off x="1069848" y="2907792"/>
            <a:ext cx="10067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context, API service wrappers, route protection, form validation, and UI state handling.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868680" y="3328416"/>
            <a:ext cx="10378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68680" y="3328416"/>
            <a:ext cx="109728" cy="914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33272" y="349300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2276" y="3572012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45336" y="3474720"/>
            <a:ext cx="9537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3 - API and Business Logic</a:t>
            </a:r>
            <a:endParaRPr lang="en-US" sz="1430" dirty="0"/>
          </a:p>
        </p:txBody>
      </p:sp>
      <p:sp>
        <p:nvSpPr>
          <p:cNvPr id="23" name="Text 18"/>
          <p:cNvSpPr/>
          <p:nvPr/>
        </p:nvSpPr>
        <p:spPr>
          <a:xfrm>
            <a:off x="1069848" y="4005072"/>
            <a:ext cx="10067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 and controllers for auth, properties, inquiries, reviews, alerts, projects, payments, and ML.</a:t>
            </a:r>
            <a:endParaRPr lang="en-US" sz="1120" dirty="0"/>
          </a:p>
        </p:txBody>
      </p:sp>
      <p:sp>
        <p:nvSpPr>
          <p:cNvPr id="24" name="Shape 19"/>
          <p:cNvSpPr/>
          <p:nvPr/>
        </p:nvSpPr>
        <p:spPr>
          <a:xfrm>
            <a:off x="868680" y="4425696"/>
            <a:ext cx="10378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68680" y="4425696"/>
            <a:ext cx="109728" cy="914400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33272" y="459028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2276" y="4669292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45336" y="4572000"/>
            <a:ext cx="9537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4 - Data and Integrations</a:t>
            </a:r>
            <a:endParaRPr lang="en-US" sz="1430" dirty="0"/>
          </a:p>
        </p:txBody>
      </p:sp>
      <p:sp>
        <p:nvSpPr>
          <p:cNvPr id="29" name="Text 23"/>
          <p:cNvSpPr/>
          <p:nvPr/>
        </p:nvSpPr>
        <p:spPr>
          <a:xfrm>
            <a:off x="1069848" y="5102352"/>
            <a:ext cx="10067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collections, Cloudinary uploads, Nodemailer, Razorpay, Leaflet, and the ML service.</a:t>
            </a:r>
            <a:endParaRPr lang="en-US" sz="1120" dirty="0"/>
          </a:p>
        </p:txBody>
      </p:sp>
      <p:sp>
        <p:nvSpPr>
          <p:cNvPr id="30" name="Shape 24"/>
          <p:cNvSpPr/>
          <p:nvPr/>
        </p:nvSpPr>
        <p:spPr>
          <a:xfrm>
            <a:off x="7360920" y="589788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360920" y="5934456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-&gt; Services -&gt; API -&gt; Database / External APIs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and System Status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already integrated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43000"/>
            <a:ext cx="4800600" cy="4956048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43000"/>
            <a:ext cx="109728" cy="49560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0759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38659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289304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Modules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19656"/>
            <a:ext cx="4489704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Authentication and protected routes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Property listing CRUD and image upload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Search, filter, and featured listings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Inquiries and property reviews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Saved alerts and dashboard views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Payments, maps, and AI price match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Admin verification and feature controls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06440" y="1143000"/>
            <a:ext cx="5440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06440" y="1143000"/>
            <a:ext cx="109728" cy="2057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71032" y="130759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0036" y="138659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83096" y="1289304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Summary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007608" y="1819656"/>
            <a:ext cx="51297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functionally complete for core workflows and ready for presentation, review, and iterative refinement.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806440" y="3456432"/>
            <a:ext cx="5440680" cy="2642616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06440" y="3456432"/>
            <a:ext cx="109728" cy="26426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71032" y="3621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0036" y="3700028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83096" y="3602736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Completion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007608" y="4133088"/>
            <a:ext cx="512978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Clean route structure in App.jsx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Controllers and models for each resource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Upload and API integration configured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Frontend pages wired to the backend services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Solutions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issues encountered during development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097280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097280"/>
            <a:ext cx="109728" cy="841248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26187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34087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243584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protection and role logic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950976" y="1773936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creating a dedicated protected-route wrapper and role checks in App.jsx.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49808" y="2066544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2066544"/>
            <a:ext cx="109728" cy="8412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2231136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404" y="2310140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26464" y="2212848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filter reliability</a:t>
            </a:r>
            <a:endParaRPr lang="en-US" sz="1320" dirty="0"/>
          </a:p>
        </p:txBody>
      </p:sp>
      <p:sp>
        <p:nvSpPr>
          <p:cNvPr id="17" name="Text 13"/>
          <p:cNvSpPr/>
          <p:nvPr/>
        </p:nvSpPr>
        <p:spPr>
          <a:xfrm>
            <a:off x="950976" y="2743200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synchronizing query parameters with the active filter object.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749808" y="3035808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9808" y="3035808"/>
            <a:ext cx="109728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14400" y="320040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3404" y="3279404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26464" y="3182112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and session consistency</a:t>
            </a:r>
            <a:endParaRPr lang="en-US" sz="1320" dirty="0"/>
          </a:p>
        </p:txBody>
      </p:sp>
      <p:sp>
        <p:nvSpPr>
          <p:cNvPr id="23" name="Text 18"/>
          <p:cNvSpPr/>
          <p:nvPr/>
        </p:nvSpPr>
        <p:spPr>
          <a:xfrm>
            <a:off x="950976" y="3712464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using local storage and a shared auth context across tabs.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749808" y="4005072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9808" y="4005072"/>
            <a:ext cx="109728" cy="8412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14400" y="416966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404" y="4248668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26464" y="4151376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handling</a:t>
            </a:r>
            <a:endParaRPr lang="en-US" sz="1320" dirty="0"/>
          </a:p>
        </p:txBody>
      </p:sp>
      <p:sp>
        <p:nvSpPr>
          <p:cNvPr id="29" name="Text 23"/>
          <p:cNvSpPr/>
          <p:nvPr/>
        </p:nvSpPr>
        <p:spPr>
          <a:xfrm>
            <a:off x="950976" y="4681728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using multer and Cloudinary for structured image processing.</a:t>
            </a:r>
            <a:endParaRPr lang="en-US" sz="1080" dirty="0"/>
          </a:p>
        </p:txBody>
      </p:sp>
      <p:sp>
        <p:nvSpPr>
          <p:cNvPr id="30" name="Shape 24"/>
          <p:cNvSpPr/>
          <p:nvPr/>
        </p:nvSpPr>
        <p:spPr>
          <a:xfrm>
            <a:off x="749808" y="4974336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49808" y="4974336"/>
            <a:ext cx="109728" cy="8412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14400" y="5138928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3404" y="5217932"/>
            <a:ext cx="280904" cy="280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26464" y="5120640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 connectivity</a:t>
            </a:r>
            <a:endParaRPr lang="en-US" sz="1320" dirty="0"/>
          </a:p>
        </p:txBody>
      </p:sp>
      <p:sp>
        <p:nvSpPr>
          <p:cNvPr id="35" name="Text 28"/>
          <p:cNvSpPr/>
          <p:nvPr/>
        </p:nvSpPr>
        <p:spPr>
          <a:xfrm>
            <a:off x="950976" y="5650992"/>
            <a:ext cx="10433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proxying requests through the backend instead of calling localhost directly.</a:t>
            </a:r>
            <a:endParaRPr lang="en-US" sz="1080" dirty="0"/>
          </a:p>
        </p:txBody>
      </p:sp>
      <p:sp>
        <p:nvSpPr>
          <p:cNvPr id="36" name="Shape 29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and Skills Acquired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reinforced technically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8872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88720"/>
            <a:ext cx="109728" cy="1828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432316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35024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50976" y="1865376"/>
            <a:ext cx="4901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reuse, route composition, responsive sections, and clean page-level state handling in React.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18872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188720"/>
            <a:ext cx="10972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82512" y="1353312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1516" y="143231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94576" y="1335024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API Design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19088" y="1865376"/>
            <a:ext cx="4901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controllers, middleware, route organization, and validation patterns for a modular service layer.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49808" y="3218688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9808" y="3218688"/>
            <a:ext cx="109728" cy="1828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14400" y="338328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3404" y="3462284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26464" y="3364992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Authentication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950976" y="3895344"/>
            <a:ext cx="4901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modeling, JWT sessions, role-based access control, and secure password flow management.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17920" y="3218688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17920" y="3218688"/>
            <a:ext cx="109728" cy="1828800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82512" y="338328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1516" y="3462284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94576" y="3364992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Debugging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419088" y="3895344"/>
            <a:ext cx="4901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maps, uploads, payments, emails, and ML services while tracing issues across the stack.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Summary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role can access in Urban Stay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225296"/>
            <a:ext cx="4474159" cy="646611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298448"/>
            <a:ext cx="4401007" cy="53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23967" y="1225296"/>
            <a:ext cx="2343607" cy="646611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60543" y="1298448"/>
            <a:ext cx="2270455" cy="53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67574" y="1225296"/>
            <a:ext cx="1917497" cy="646611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04150" y="1298448"/>
            <a:ext cx="1844345" cy="53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85071" y="1225296"/>
            <a:ext cx="1917497" cy="646611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1647" y="1298448"/>
            <a:ext cx="1844345" cy="53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" y="1871907"/>
            <a:ext cx="4474159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23967" y="1871907"/>
            <a:ext cx="234360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67574" y="1871907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85071" y="1871907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1926771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search properties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23967" y="1926771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67574" y="1926771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85071" y="1926771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" y="2518519"/>
            <a:ext cx="4474159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23967" y="2518519"/>
            <a:ext cx="234360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67574" y="2518519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5071" y="2518519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2573383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inquiry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23967" y="2573383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67574" y="2573383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85071" y="2573383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9808" y="3165130"/>
            <a:ext cx="4474159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23967" y="3165130"/>
            <a:ext cx="234360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67574" y="3165130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5071" y="3165130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3219994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or edit property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23967" y="3219994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67574" y="3219994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85071" y="3219994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" y="3811742"/>
            <a:ext cx="4474159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23967" y="3811742"/>
            <a:ext cx="234360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67574" y="3811742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85071" y="3811742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3866606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feature property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23967" y="3866606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67574" y="3866606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485071" y="3866606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9808" y="4458353"/>
            <a:ext cx="4474159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23967" y="4458353"/>
            <a:ext cx="234360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67574" y="4458353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85071" y="4458353"/>
            <a:ext cx="1917497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" y="4513217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dashboards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23967" y="4513217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567574" y="4513217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485071" y="4513217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9808" y="5104965"/>
            <a:ext cx="4474159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23967" y="5104965"/>
            <a:ext cx="234360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67574" y="5104965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85071" y="5104965"/>
            <a:ext cx="1917497" cy="646611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4672" y="5159829"/>
            <a:ext cx="4364431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alerts and reviews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223967" y="5159829"/>
            <a:ext cx="234360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567574" y="5159829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485071" y="5159829"/>
            <a:ext cx="1917497" cy="555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outcomes and future scope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170432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70432"/>
            <a:ext cx="109728" cy="4526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41402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1673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47088"/>
            <a:ext cx="485546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Built a full-stack real estate platform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Implemented multi-role workflows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Connected search, inquiry, review, and alert flows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Added AI price match and utility pages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Structured the system for future scaling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6181344" y="1170432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81344" y="1170432"/>
            <a:ext cx="109728" cy="4526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45936" y="1335024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940" y="1414028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0" y="1316736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382512" y="1847088"/>
            <a:ext cx="494690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Stronger analytics and reporting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More personalized property recommendations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Additional notification channels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Further deployment hardening and monitoring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Delivery and Handover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included in the final submission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207008"/>
            <a:ext cx="5212080" cy="4535424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207008"/>
            <a:ext cx="109728" cy="45354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7160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04" y="1450604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353312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" y="1883664"/>
            <a:ext cx="490118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Frontend React application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Express and MongoDB backend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ML service integration plan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Database models and routes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Documentation and presentation deck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Sample data and deployment notes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6254496" y="1207008"/>
            <a:ext cx="5184648" cy="4535424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4496" y="1207008"/>
            <a:ext cx="109728" cy="4535424"/>
          </a:xfrm>
          <a:prstGeom prst="rect">
            <a:avLst/>
          </a:prstGeom>
          <a:solidFill>
            <a:srgbClr val="C97C00"/>
          </a:solidFill>
          <a:ln w="12700">
            <a:solidFill>
              <a:srgbClr val="C97C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19088" y="1371600"/>
            <a:ext cx="438912" cy="438912"/>
          </a:xfrm>
          <a:prstGeom prst="ellipse">
            <a:avLst/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8092" y="1450604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31152" y="13533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Readiness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55664" y="1883664"/>
            <a:ext cx="4873752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can be demonstrated across all main flows: login, browse, search, property details, inquiry, seller actions, admin verification, and dashboard tracking.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11201400" y="63550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201400" y="63916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14400"/>
            <a:ext cx="10744200" cy="4892040"/>
          </a:xfrm>
          <a:prstGeom prst="roundRect">
            <a:avLst>
              <a:gd name="adj" fmla="val 1495"/>
            </a:avLst>
          </a:prstGeom>
          <a:solidFill>
            <a:srgbClr val="12304B">
              <a:alpha val="92000"/>
            </a:srgbClr>
          </a:solidFill>
          <a:ln w="12700">
            <a:solidFill>
              <a:srgbClr val="2A70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F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Stay - Real Estate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7706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3657600"/>
            <a:ext cx="548640" cy="548640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4635" y="375635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612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3657600"/>
            <a:ext cx="548640" cy="548640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2035" y="37563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186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40680" y="3657600"/>
            <a:ext cx="548640" cy="548640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9435" y="375635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760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498080" y="3657600"/>
            <a:ext cx="548640" cy="548640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6835" y="3756355"/>
            <a:ext cx="351130" cy="3511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334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9555480" y="3657600"/>
            <a:ext cx="548640" cy="548640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4235" y="3756355"/>
            <a:ext cx="351130" cy="35113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390888" y="4279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097280" y="507492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ready for review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Urban Stay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Stay - Real Estate Platform</dc:title>
  <dc:subject>Urban Stay real estate platform project presentation</dc:subject>
  <dc:creator>Urban Stay Team</dc:creator>
  <cp:lastModifiedBy>Urban Stay Team</cp:lastModifiedBy>
  <cp:revision>1</cp:revision>
  <dcterms:created xsi:type="dcterms:W3CDTF">2026-05-11T12:59:06Z</dcterms:created>
  <dcterms:modified xsi:type="dcterms:W3CDTF">2026-05-11T12:59:06Z</dcterms:modified>
</cp:coreProperties>
</file>